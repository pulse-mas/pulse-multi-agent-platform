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6858000" cx="12192000"/>
  <p:notesSz cx="6858000" cy="12192000"/>
  <p:embeddedFontLst>
    <p:embeddedFont>
      <p:font typeface="Montserrat"/>
      <p:regular r:id="rId15"/>
      <p:bold r:id="rId16"/>
      <p:italic r:id="rId17"/>
      <p:boldItalic r:id="rId18"/>
    </p:embeddedFont>
    <p:embeddedFont>
      <p:font typeface="Inter"/>
      <p:regular r:id="rId19"/>
      <p:bold r:id="rId20"/>
      <p:italic r:id="rId21"/>
      <p:boldItalic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3" roundtripDataSignature="AMtx7mjTXaxmmO3GZYDkuV28Hy1W1RJBl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E784667-161B-48FC-828F-91BF0C9C1680}">
  <a:tblStyle styleId="{3E784667-161B-48FC-828F-91BF0C9C1680}"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font" Target="fonts/Inter-bold.fntdata"/><Relationship Id="rId11" Type="http://schemas.openxmlformats.org/officeDocument/2006/relationships/slide" Target="slides/slide6.xml"/><Relationship Id="rId22" Type="http://schemas.openxmlformats.org/officeDocument/2006/relationships/font" Target="fonts/Inter-boldItalic.fntdata"/><Relationship Id="rId10" Type="http://schemas.openxmlformats.org/officeDocument/2006/relationships/slide" Target="slides/slide5.xml"/><Relationship Id="rId21" Type="http://schemas.openxmlformats.org/officeDocument/2006/relationships/font" Target="fonts/Inter-italic.fntdata"/><Relationship Id="rId13" Type="http://schemas.openxmlformats.org/officeDocument/2006/relationships/slide" Target="slides/slide8.xml"/><Relationship Id="rId12" Type="http://schemas.openxmlformats.org/officeDocument/2006/relationships/slide" Target="slides/slide7.xml"/><Relationship Id="rId23" Type="http://customschemas.google.com/relationships/presentationmetadata" Target="meta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Montserrat-regular.fntdata"/><Relationship Id="rId14" Type="http://schemas.openxmlformats.org/officeDocument/2006/relationships/slide" Target="slides/slide9.xml"/><Relationship Id="rId17" Type="http://schemas.openxmlformats.org/officeDocument/2006/relationships/font" Target="fonts/Montserrat-italic.fntdata"/><Relationship Id="rId16" Type="http://schemas.openxmlformats.org/officeDocument/2006/relationships/font" Target="fonts/Montserrat-bold.fntdata"/><Relationship Id="rId5" Type="http://schemas.openxmlformats.org/officeDocument/2006/relationships/notesMaster" Target="notesMasters/notesMaster1.xml"/><Relationship Id="rId19" Type="http://schemas.openxmlformats.org/officeDocument/2006/relationships/font" Target="fonts/Inter-regular.fntdata"/><Relationship Id="rId6" Type="http://schemas.openxmlformats.org/officeDocument/2006/relationships/slide" Target="slides/slide1.xml"/><Relationship Id="rId18" Type="http://schemas.openxmlformats.org/officeDocument/2006/relationships/font" Target="fonts/Montserrat-bold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 name="Shape 7"/>
        <p:cNvGrpSpPr/>
        <p:nvPr/>
      </p:nvGrpSpPr>
      <p:grpSpPr>
        <a:xfrm>
          <a:off x="0" y="0"/>
          <a:ext cx="0" cy="0"/>
          <a:chOff x="0" y="0"/>
          <a:chExt cx="0" cy="0"/>
        </a:xfrm>
      </p:grpSpPr>
      <p:sp>
        <p:nvSpPr>
          <p:cNvPr id="8" name="Google Shape;8;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 name="Google Shape;9;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0" name="Google Shape;10;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800" u="none" cap="none" strike="noStrike">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 name="Shape 32"/>
        <p:cNvGrpSpPr/>
        <p:nvPr/>
      </p:nvGrpSpPr>
      <p:grpSpPr>
        <a:xfrm>
          <a:off x="0" y="0"/>
          <a:ext cx="0" cy="0"/>
          <a:chOff x="0" y="0"/>
          <a:chExt cx="0" cy="0"/>
        </a:xfrm>
      </p:grpSpPr>
      <p:sp>
        <p:nvSpPr>
          <p:cNvPr id="33" name="Google Shape;33;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 name="Google Shape;34;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35" name="Google Shape;35;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 name="Shape 45"/>
        <p:cNvGrpSpPr/>
        <p:nvPr/>
      </p:nvGrpSpPr>
      <p:grpSpPr>
        <a:xfrm>
          <a:off x="0" y="0"/>
          <a:ext cx="0" cy="0"/>
          <a:chOff x="0" y="0"/>
          <a:chExt cx="0" cy="0"/>
        </a:xfrm>
      </p:grpSpPr>
      <p:sp>
        <p:nvSpPr>
          <p:cNvPr id="46" name="Google Shape;46;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 name="Google Shape;47;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48" name="Google Shape;48;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a78f71d699_1_4:notes"/>
          <p:cNvSpPr/>
          <p:nvPr>
            <p:ph idx="2" type="sldImg"/>
          </p:nvPr>
        </p:nvSpPr>
        <p:spPr>
          <a:xfrm>
            <a:off x="1143225" y="914400"/>
            <a:ext cx="4572300" cy="4572000"/>
          </a:xfrm>
          <a:custGeom>
            <a:rect b="b" l="l" r="r" t="t"/>
            <a:pathLst>
              <a:path extrusionOk="0" h="120000" w="120000">
                <a:moveTo>
                  <a:pt x="0" y="0"/>
                </a:moveTo>
                <a:lnTo>
                  <a:pt x="120000" y="0"/>
                </a:lnTo>
                <a:lnTo>
                  <a:pt x="120000" y="120000"/>
                </a:lnTo>
                <a:lnTo>
                  <a:pt x="0" y="120000"/>
                </a:lnTo>
                <a:close/>
              </a:path>
            </a:pathLst>
          </a:custGeom>
        </p:spPr>
      </p:sp>
      <p:sp>
        <p:nvSpPr>
          <p:cNvPr id="59" name="Google Shape;59;g3a78f71d699_1_4: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9" name="Google Shape;69;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70" name="Google Shape;70;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0" name="Google Shape;80;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81" name="Google Shape;81;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a78f71d699_0_116:notes"/>
          <p:cNvSpPr/>
          <p:nvPr>
            <p:ph idx="2" type="sldImg"/>
          </p:nvPr>
        </p:nvSpPr>
        <p:spPr>
          <a:xfrm>
            <a:off x="1143225" y="914400"/>
            <a:ext cx="4572300" cy="4572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a78f71d699_0_116: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3" name="Google Shape;153;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54" name="Google Shape;154;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9" name="Google Shape;199;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200" name="Google Shape;200;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6" name="Shape 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2.png"/><Relationship Id="rId4" Type="http://schemas.openxmlformats.org/officeDocument/2006/relationships/image" Target="../media/image2.png"/><Relationship Id="rId11" Type="http://schemas.openxmlformats.org/officeDocument/2006/relationships/image" Target="../media/image1.png"/><Relationship Id="rId10" Type="http://schemas.openxmlformats.org/officeDocument/2006/relationships/image" Target="../media/image32.png"/><Relationship Id="rId9" Type="http://schemas.openxmlformats.org/officeDocument/2006/relationships/image" Target="../media/image9.png"/><Relationship Id="rId5" Type="http://schemas.openxmlformats.org/officeDocument/2006/relationships/image" Target="../media/image8.png"/><Relationship Id="rId6" Type="http://schemas.openxmlformats.org/officeDocument/2006/relationships/image" Target="../media/image3.png"/><Relationship Id="rId7" Type="http://schemas.openxmlformats.org/officeDocument/2006/relationships/image" Target="../media/image11.png"/><Relationship Id="rId8"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54.png"/><Relationship Id="rId4" Type="http://schemas.openxmlformats.org/officeDocument/2006/relationships/image" Target="../media/image13.png"/><Relationship Id="rId5" Type="http://schemas.openxmlformats.org/officeDocument/2006/relationships/image" Target="../media/image5.png"/><Relationship Id="rId6" Type="http://schemas.openxmlformats.org/officeDocument/2006/relationships/image" Target="../media/image1.png"/><Relationship Id="rId7"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55.png"/><Relationship Id="rId4" Type="http://schemas.openxmlformats.org/officeDocument/2006/relationships/image" Target="../media/image21.png"/><Relationship Id="rId5" Type="http://schemas.openxmlformats.org/officeDocument/2006/relationships/image" Target="../media/image1.png"/><Relationship Id="rId6"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3.png"/><Relationship Id="rId4" Type="http://schemas.openxmlformats.org/officeDocument/2006/relationships/image" Target="../media/image1.png"/><Relationship Id="rId5" Type="http://schemas.openxmlformats.org/officeDocument/2006/relationships/image" Target="../media/image27.png"/><Relationship Id="rId6" Type="http://schemas.openxmlformats.org/officeDocument/2006/relationships/image" Target="../media/image5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54.png"/><Relationship Id="rId4" Type="http://schemas.openxmlformats.org/officeDocument/2006/relationships/image" Target="../media/image13.png"/><Relationship Id="rId5" Type="http://schemas.openxmlformats.org/officeDocument/2006/relationships/image" Target="../media/image1.png"/><Relationship Id="rId6" Type="http://schemas.openxmlformats.org/officeDocument/2006/relationships/image" Target="../media/image7.png"/></Relationships>
</file>

<file path=ppt/slides/_rels/slide6.xml.rels><?xml version="1.0" encoding="UTF-8" standalone="yes"?><Relationships xmlns="http://schemas.openxmlformats.org/package/2006/relationships"><Relationship Id="rId11" Type="http://schemas.openxmlformats.org/officeDocument/2006/relationships/image" Target="../media/image19.png"/><Relationship Id="rId10" Type="http://schemas.openxmlformats.org/officeDocument/2006/relationships/image" Target="../media/image15.png"/><Relationship Id="rId13" Type="http://schemas.openxmlformats.org/officeDocument/2006/relationships/image" Target="../media/image45.png"/><Relationship Id="rId12" Type="http://schemas.openxmlformats.org/officeDocument/2006/relationships/image" Target="../media/image24.png"/><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54.png"/><Relationship Id="rId4" Type="http://schemas.openxmlformats.org/officeDocument/2006/relationships/image" Target="../media/image13.png"/><Relationship Id="rId9" Type="http://schemas.openxmlformats.org/officeDocument/2006/relationships/image" Target="../media/image14.png"/><Relationship Id="rId15" Type="http://schemas.openxmlformats.org/officeDocument/2006/relationships/image" Target="../media/image1.png"/><Relationship Id="rId14" Type="http://schemas.openxmlformats.org/officeDocument/2006/relationships/image" Target="../media/image25.png"/><Relationship Id="rId16" Type="http://schemas.openxmlformats.org/officeDocument/2006/relationships/image" Target="../media/image7.png"/><Relationship Id="rId5" Type="http://schemas.openxmlformats.org/officeDocument/2006/relationships/image" Target="../media/image17.png"/><Relationship Id="rId6" Type="http://schemas.openxmlformats.org/officeDocument/2006/relationships/image" Target="../media/image12.png"/><Relationship Id="rId7" Type="http://schemas.openxmlformats.org/officeDocument/2006/relationships/image" Target="../media/image18.png"/><Relationship Id="rId8" Type="http://schemas.openxmlformats.org/officeDocument/2006/relationships/image" Target="../media/image2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3.png"/><Relationship Id="rId4" Type="http://schemas.openxmlformats.org/officeDocument/2006/relationships/image" Target="../media/image1.png"/><Relationship Id="rId5" Type="http://schemas.openxmlformats.org/officeDocument/2006/relationships/image" Target="../media/image30.jpg"/><Relationship Id="rId6" Type="http://schemas.openxmlformats.org/officeDocument/2006/relationships/image" Target="../media/image29.jpg"/><Relationship Id="rId7" Type="http://schemas.openxmlformats.org/officeDocument/2006/relationships/image" Target="../media/image31.jpg"/></Relationships>
</file>

<file path=ppt/slides/_rels/slide8.xml.rels><?xml version="1.0" encoding="UTF-8" standalone="yes"?><Relationships xmlns="http://schemas.openxmlformats.org/package/2006/relationships"><Relationship Id="rId20" Type="http://schemas.openxmlformats.org/officeDocument/2006/relationships/image" Target="../media/image1.png"/><Relationship Id="rId11" Type="http://schemas.openxmlformats.org/officeDocument/2006/relationships/image" Target="../media/image37.png"/><Relationship Id="rId10" Type="http://schemas.openxmlformats.org/officeDocument/2006/relationships/image" Target="../media/image34.png"/><Relationship Id="rId21" Type="http://schemas.openxmlformats.org/officeDocument/2006/relationships/image" Target="../media/image7.png"/><Relationship Id="rId13" Type="http://schemas.openxmlformats.org/officeDocument/2006/relationships/image" Target="../media/image38.png"/><Relationship Id="rId12" Type="http://schemas.openxmlformats.org/officeDocument/2006/relationships/image" Target="../media/image39.png"/><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54.png"/><Relationship Id="rId4" Type="http://schemas.openxmlformats.org/officeDocument/2006/relationships/image" Target="../media/image13.png"/><Relationship Id="rId9" Type="http://schemas.openxmlformats.org/officeDocument/2006/relationships/image" Target="../media/image36.png"/><Relationship Id="rId15" Type="http://schemas.openxmlformats.org/officeDocument/2006/relationships/image" Target="../media/image40.png"/><Relationship Id="rId14" Type="http://schemas.openxmlformats.org/officeDocument/2006/relationships/image" Target="../media/image42.png"/><Relationship Id="rId17" Type="http://schemas.openxmlformats.org/officeDocument/2006/relationships/image" Target="../media/image35.png"/><Relationship Id="rId16" Type="http://schemas.openxmlformats.org/officeDocument/2006/relationships/image" Target="../media/image41.png"/><Relationship Id="rId5" Type="http://schemas.openxmlformats.org/officeDocument/2006/relationships/image" Target="../media/image28.png"/><Relationship Id="rId19" Type="http://schemas.openxmlformats.org/officeDocument/2006/relationships/image" Target="../media/image49.png"/><Relationship Id="rId6" Type="http://schemas.openxmlformats.org/officeDocument/2006/relationships/image" Target="../media/image23.png"/><Relationship Id="rId18" Type="http://schemas.openxmlformats.org/officeDocument/2006/relationships/image" Target="../media/image43.png"/><Relationship Id="rId7" Type="http://schemas.openxmlformats.org/officeDocument/2006/relationships/image" Target="../media/image22.png"/><Relationship Id="rId8" Type="http://schemas.openxmlformats.org/officeDocument/2006/relationships/image" Target="../media/image26.png"/></Relationships>
</file>

<file path=ppt/slides/_rels/slide9.xml.rels><?xml version="1.0" encoding="UTF-8" standalone="yes"?><Relationships xmlns="http://schemas.openxmlformats.org/package/2006/relationships"><Relationship Id="rId11" Type="http://schemas.openxmlformats.org/officeDocument/2006/relationships/image" Target="../media/image1.png"/><Relationship Id="rId10" Type="http://schemas.openxmlformats.org/officeDocument/2006/relationships/image" Target="../media/image50.png"/><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54.png"/><Relationship Id="rId4" Type="http://schemas.openxmlformats.org/officeDocument/2006/relationships/image" Target="../media/image13.png"/><Relationship Id="rId9" Type="http://schemas.openxmlformats.org/officeDocument/2006/relationships/image" Target="../media/image47.png"/><Relationship Id="rId5" Type="http://schemas.openxmlformats.org/officeDocument/2006/relationships/image" Target="../media/image7.png"/><Relationship Id="rId6" Type="http://schemas.openxmlformats.org/officeDocument/2006/relationships/image" Target="../media/image46.png"/><Relationship Id="rId7" Type="http://schemas.openxmlformats.org/officeDocument/2006/relationships/image" Target="../media/image48.png"/><Relationship Id="rId8" Type="http://schemas.openxmlformats.org/officeDocument/2006/relationships/image" Target="../media/image4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 name="Shape 11"/>
        <p:cNvGrpSpPr/>
        <p:nvPr/>
      </p:nvGrpSpPr>
      <p:grpSpPr>
        <a:xfrm>
          <a:off x="0" y="0"/>
          <a:ext cx="0" cy="0"/>
          <a:chOff x="0" y="0"/>
          <a:chExt cx="0" cy="0"/>
        </a:xfrm>
      </p:grpSpPr>
      <p:pic>
        <p:nvPicPr>
          <p:cNvPr descr="preencoded.png" id="12" name="Google Shape;12;p1"/>
          <p:cNvPicPr preferRelativeResize="0"/>
          <p:nvPr/>
        </p:nvPicPr>
        <p:blipFill rotWithShape="1">
          <a:blip r:embed="rId3">
            <a:alphaModFix/>
          </a:blip>
          <a:srcRect b="0" l="0" r="0" t="0"/>
          <a:stretch/>
        </p:blipFill>
        <p:spPr>
          <a:xfrm>
            <a:off x="-81975" y="109550"/>
            <a:ext cx="12192000" cy="6858000"/>
          </a:xfrm>
          <a:prstGeom prst="rect">
            <a:avLst/>
          </a:prstGeom>
          <a:noFill/>
          <a:ln>
            <a:noFill/>
          </a:ln>
        </p:spPr>
      </p:pic>
      <p:pic>
        <p:nvPicPr>
          <p:cNvPr descr="preencoded.png" id="13" name="Google Shape;13;p1"/>
          <p:cNvPicPr preferRelativeResize="0"/>
          <p:nvPr/>
        </p:nvPicPr>
        <p:blipFill rotWithShape="1">
          <a:blip r:embed="rId4">
            <a:alphaModFix/>
          </a:blip>
          <a:srcRect b="0" l="0" r="0" t="0"/>
          <a:stretch/>
        </p:blipFill>
        <p:spPr>
          <a:xfrm>
            <a:off x="0" y="0"/>
            <a:ext cx="2895600" cy="2895600"/>
          </a:xfrm>
          <a:prstGeom prst="rect">
            <a:avLst/>
          </a:prstGeom>
          <a:noFill/>
          <a:ln>
            <a:noFill/>
          </a:ln>
        </p:spPr>
      </p:pic>
      <p:pic>
        <p:nvPicPr>
          <p:cNvPr descr="preencoded.png" id="14" name="Google Shape;14;p1"/>
          <p:cNvPicPr preferRelativeResize="0"/>
          <p:nvPr/>
        </p:nvPicPr>
        <p:blipFill rotWithShape="1">
          <a:blip r:embed="rId5">
            <a:alphaModFix/>
          </a:blip>
          <a:srcRect b="0" l="0" r="0" t="0"/>
          <a:stretch/>
        </p:blipFill>
        <p:spPr>
          <a:xfrm>
            <a:off x="9372600" y="4038600"/>
            <a:ext cx="2438400" cy="2438400"/>
          </a:xfrm>
          <a:prstGeom prst="rect">
            <a:avLst/>
          </a:prstGeom>
          <a:noFill/>
          <a:ln>
            <a:noFill/>
          </a:ln>
        </p:spPr>
      </p:pic>
      <p:pic>
        <p:nvPicPr>
          <p:cNvPr descr="preencoded.png" id="15" name="Google Shape;15;p1"/>
          <p:cNvPicPr preferRelativeResize="0"/>
          <p:nvPr/>
        </p:nvPicPr>
        <p:blipFill rotWithShape="1">
          <a:blip r:embed="rId6">
            <a:alphaModFix/>
          </a:blip>
          <a:srcRect b="0" l="0" r="0" t="0"/>
          <a:stretch/>
        </p:blipFill>
        <p:spPr>
          <a:xfrm>
            <a:off x="0" y="2286000"/>
            <a:ext cx="2286000" cy="3048000"/>
          </a:xfrm>
          <a:prstGeom prst="rect">
            <a:avLst/>
          </a:prstGeom>
          <a:noFill/>
          <a:ln>
            <a:noFill/>
          </a:ln>
        </p:spPr>
      </p:pic>
      <p:pic>
        <p:nvPicPr>
          <p:cNvPr descr="preencoded.png" id="16" name="Google Shape;16;p1"/>
          <p:cNvPicPr preferRelativeResize="0"/>
          <p:nvPr/>
        </p:nvPicPr>
        <p:blipFill rotWithShape="1">
          <a:blip r:embed="rId7">
            <a:alphaModFix/>
          </a:blip>
          <a:srcRect b="0" l="0" r="0" t="0"/>
          <a:stretch/>
        </p:blipFill>
        <p:spPr>
          <a:xfrm>
            <a:off x="0" y="0"/>
            <a:ext cx="12192000" cy="114300"/>
          </a:xfrm>
          <a:prstGeom prst="rect">
            <a:avLst/>
          </a:prstGeom>
          <a:noFill/>
          <a:ln>
            <a:noFill/>
          </a:ln>
        </p:spPr>
      </p:pic>
      <p:pic>
        <p:nvPicPr>
          <p:cNvPr descr="preencoded.png" id="17" name="Google Shape;17;p1"/>
          <p:cNvPicPr preferRelativeResize="0"/>
          <p:nvPr/>
        </p:nvPicPr>
        <p:blipFill rotWithShape="1">
          <a:blip r:embed="rId8">
            <a:alphaModFix/>
          </a:blip>
          <a:srcRect b="0" l="0" r="0" t="0"/>
          <a:stretch/>
        </p:blipFill>
        <p:spPr>
          <a:xfrm>
            <a:off x="5638800" y="2449227"/>
            <a:ext cx="914400" cy="38100"/>
          </a:xfrm>
          <a:prstGeom prst="rect">
            <a:avLst/>
          </a:prstGeom>
          <a:noFill/>
          <a:ln>
            <a:noFill/>
          </a:ln>
        </p:spPr>
      </p:pic>
      <p:pic>
        <p:nvPicPr>
          <p:cNvPr descr="preencoded.png" id="18" name="Google Shape;18;p1"/>
          <p:cNvPicPr preferRelativeResize="0"/>
          <p:nvPr/>
        </p:nvPicPr>
        <p:blipFill rotWithShape="1">
          <a:blip r:embed="rId9">
            <a:alphaModFix/>
          </a:blip>
          <a:srcRect b="0" l="0" r="0" t="0"/>
          <a:stretch/>
        </p:blipFill>
        <p:spPr>
          <a:xfrm>
            <a:off x="0" y="6743700"/>
            <a:ext cx="12192000" cy="114300"/>
          </a:xfrm>
          <a:prstGeom prst="rect">
            <a:avLst/>
          </a:prstGeom>
          <a:noFill/>
          <a:ln>
            <a:noFill/>
          </a:ln>
        </p:spPr>
      </p:pic>
      <p:sp>
        <p:nvSpPr>
          <p:cNvPr id="19" name="Google Shape;19;p1"/>
          <p:cNvSpPr/>
          <p:nvPr/>
        </p:nvSpPr>
        <p:spPr>
          <a:xfrm>
            <a:off x="1986925" y="1090625"/>
            <a:ext cx="8576100" cy="714300"/>
          </a:xfrm>
          <a:prstGeom prst="rect">
            <a:avLst/>
          </a:prstGeom>
          <a:noFill/>
          <a:ln>
            <a:noFill/>
          </a:ln>
          <a:effectLst>
            <a:outerShdw blurRad="57150" rotWithShape="0" algn="bl" dir="5580000" dist="19050">
              <a:srgbClr val="000000">
                <a:alpha val="38000"/>
              </a:srgbClr>
            </a:outerShdw>
          </a:effectLst>
        </p:spPr>
        <p:txBody>
          <a:bodyPr anchorCtr="0" anchor="t" bIns="0" lIns="0" spcFirstLastPara="1" rIns="0" wrap="square" tIns="0">
            <a:noAutofit/>
          </a:bodyPr>
          <a:lstStyle/>
          <a:p>
            <a:pPr indent="0" lvl="0" marL="0" marR="0" rtl="0" algn="ctr">
              <a:lnSpc>
                <a:spcPct val="125000"/>
              </a:lnSpc>
              <a:spcBef>
                <a:spcPts val="0"/>
              </a:spcBef>
              <a:spcAft>
                <a:spcPts val="0"/>
              </a:spcAft>
              <a:buClr>
                <a:srgbClr val="000000"/>
              </a:buClr>
              <a:buSzPts val="4500"/>
              <a:buFont typeface="Montserrat"/>
              <a:buNone/>
            </a:pPr>
            <a:r>
              <a:rPr b="1" lang="en-US" sz="5000">
                <a:latin typeface="Montserrat"/>
                <a:ea typeface="Montserrat"/>
                <a:cs typeface="Montserrat"/>
                <a:sym typeface="Montserrat"/>
              </a:rPr>
              <a:t>Pulse</a:t>
            </a:r>
            <a:endParaRPr b="1" sz="5000">
              <a:latin typeface="Montserrat"/>
              <a:ea typeface="Montserrat"/>
              <a:cs typeface="Montserrat"/>
              <a:sym typeface="Montserrat"/>
            </a:endParaRPr>
          </a:p>
          <a:p>
            <a:pPr indent="0" lvl="0" marL="0" marR="0" rtl="0" algn="ctr">
              <a:lnSpc>
                <a:spcPct val="125000"/>
              </a:lnSpc>
              <a:spcBef>
                <a:spcPts val="0"/>
              </a:spcBef>
              <a:spcAft>
                <a:spcPts val="0"/>
              </a:spcAft>
              <a:buClr>
                <a:srgbClr val="000000"/>
              </a:buClr>
              <a:buSzPts val="4500"/>
              <a:buFont typeface="Montserrat"/>
              <a:buNone/>
            </a:pPr>
            <a:r>
              <a:rPr b="1" lang="en-US" sz="1900">
                <a:latin typeface="Montserrat"/>
                <a:ea typeface="Montserrat"/>
                <a:cs typeface="Montserrat"/>
                <a:sym typeface="Montserrat"/>
              </a:rPr>
              <a:t>Social Media and Marketing Multi- Agents Platform</a:t>
            </a:r>
            <a:endParaRPr b="1" sz="1900">
              <a:latin typeface="Montserrat"/>
              <a:ea typeface="Montserrat"/>
              <a:cs typeface="Montserrat"/>
              <a:sym typeface="Montserrat"/>
            </a:endParaRPr>
          </a:p>
          <a:p>
            <a:pPr indent="0" lvl="0" marL="0" marR="0" rtl="0" algn="ctr">
              <a:lnSpc>
                <a:spcPct val="125000"/>
              </a:lnSpc>
              <a:spcBef>
                <a:spcPts val="0"/>
              </a:spcBef>
              <a:spcAft>
                <a:spcPts val="0"/>
              </a:spcAft>
              <a:buClr>
                <a:srgbClr val="000000"/>
              </a:buClr>
              <a:buSzPts val="4500"/>
              <a:buFont typeface="Montserrat"/>
              <a:buNone/>
            </a:pPr>
            <a:r>
              <a:t/>
            </a:r>
            <a:endParaRPr b="1" sz="1900">
              <a:latin typeface="Montserrat"/>
              <a:ea typeface="Montserrat"/>
              <a:cs typeface="Montserrat"/>
              <a:sym typeface="Montserrat"/>
            </a:endParaRPr>
          </a:p>
          <a:p>
            <a:pPr indent="0" lvl="0" marL="0" marR="0" rtl="0" algn="ctr">
              <a:lnSpc>
                <a:spcPct val="125000"/>
              </a:lnSpc>
              <a:spcBef>
                <a:spcPts val="0"/>
              </a:spcBef>
              <a:spcAft>
                <a:spcPts val="0"/>
              </a:spcAft>
              <a:buClr>
                <a:srgbClr val="000000"/>
              </a:buClr>
              <a:buSzPts val="4500"/>
              <a:buFont typeface="Montserrat"/>
              <a:buNone/>
            </a:pPr>
            <a:r>
              <a:t/>
            </a:r>
            <a:endParaRPr b="1" sz="1900">
              <a:latin typeface="Montserrat"/>
              <a:ea typeface="Montserrat"/>
              <a:cs typeface="Montserrat"/>
              <a:sym typeface="Montserrat"/>
            </a:endParaRPr>
          </a:p>
        </p:txBody>
      </p:sp>
      <p:sp>
        <p:nvSpPr>
          <p:cNvPr id="20" name="Google Shape;20;p1"/>
          <p:cNvSpPr/>
          <p:nvPr/>
        </p:nvSpPr>
        <p:spPr>
          <a:xfrm>
            <a:off x="2087880" y="2986088"/>
            <a:ext cx="4206240" cy="304800"/>
          </a:xfrm>
          <a:prstGeom prst="rect">
            <a:avLst/>
          </a:prstGeom>
          <a:noFill/>
          <a:ln>
            <a:noFill/>
          </a:ln>
        </p:spPr>
        <p:txBody>
          <a:bodyPr anchorCtr="0" anchor="t" bIns="0" lIns="0" spcFirstLastPara="1" rIns="0" wrap="square" tIns="0">
            <a:noAutofit/>
          </a:bodyPr>
          <a:lstStyle/>
          <a:p>
            <a:pPr indent="0" lvl="0" marL="0" marR="0" rtl="0" algn="ctr">
              <a:lnSpc>
                <a:spcPct val="133333"/>
              </a:lnSpc>
              <a:spcBef>
                <a:spcPts val="0"/>
              </a:spcBef>
              <a:spcAft>
                <a:spcPts val="0"/>
              </a:spcAft>
              <a:buClr>
                <a:srgbClr val="374151"/>
              </a:buClr>
              <a:buSzPts val="1800"/>
              <a:buFont typeface="Montserrat"/>
              <a:buNone/>
            </a:pPr>
            <a:r>
              <a:rPr b="1" i="0" lang="en-US" sz="1800" u="none" cap="none" strike="noStrike">
                <a:solidFill>
                  <a:srgbClr val="374151"/>
                </a:solidFill>
                <a:latin typeface="Montserrat"/>
                <a:ea typeface="Montserrat"/>
                <a:cs typeface="Montserrat"/>
                <a:sym typeface="Montserrat"/>
              </a:rPr>
              <a:t>Team Members:</a:t>
            </a:r>
            <a:endParaRPr b="0" i="0" sz="1800" u="none" cap="none" strike="noStrike">
              <a:solidFill>
                <a:schemeClr val="dk1"/>
              </a:solidFill>
              <a:latin typeface="Calibri"/>
              <a:ea typeface="Calibri"/>
              <a:cs typeface="Calibri"/>
              <a:sym typeface="Calibri"/>
            </a:endParaRPr>
          </a:p>
        </p:txBody>
      </p:sp>
      <p:sp>
        <p:nvSpPr>
          <p:cNvPr id="21" name="Google Shape;21;p1"/>
          <p:cNvSpPr/>
          <p:nvPr/>
        </p:nvSpPr>
        <p:spPr>
          <a:xfrm>
            <a:off x="1878330" y="3405188"/>
            <a:ext cx="4434840" cy="266700"/>
          </a:xfrm>
          <a:prstGeom prst="rect">
            <a:avLst/>
          </a:prstGeom>
          <a:noFill/>
          <a:ln>
            <a:noFill/>
          </a:ln>
        </p:spPr>
        <p:txBody>
          <a:bodyPr anchorCtr="0" anchor="t" bIns="0" lIns="0" spcFirstLastPara="1" rIns="0" wrap="square" tIns="0">
            <a:noAutofit/>
          </a:bodyPr>
          <a:lstStyle/>
          <a:p>
            <a:pPr indent="-342900" lvl="0" marL="342900" marR="0" rtl="0" algn="ctr">
              <a:lnSpc>
                <a:spcPct val="140000"/>
              </a:lnSpc>
              <a:spcBef>
                <a:spcPts val="0"/>
              </a:spcBef>
              <a:spcAft>
                <a:spcPts val="0"/>
              </a:spcAft>
              <a:buClr>
                <a:srgbClr val="4B5563"/>
              </a:buClr>
              <a:buSzPts val="1500"/>
              <a:buFont typeface="Montserrat"/>
              <a:buChar char="•"/>
            </a:pPr>
            <a:r>
              <a:rPr lang="en-US" sz="1500">
                <a:solidFill>
                  <a:srgbClr val="4B5563"/>
                </a:solidFill>
                <a:latin typeface="Montserrat"/>
                <a:ea typeface="Montserrat"/>
                <a:cs typeface="Montserrat"/>
                <a:sym typeface="Montserrat"/>
              </a:rPr>
              <a:t>Abdelrahman Elattar</a:t>
            </a:r>
            <a:endParaRPr b="0" i="0" sz="1500" u="none" cap="none" strike="noStrike">
              <a:solidFill>
                <a:schemeClr val="dk1"/>
              </a:solidFill>
              <a:latin typeface="Calibri"/>
              <a:ea typeface="Calibri"/>
              <a:cs typeface="Calibri"/>
              <a:sym typeface="Calibri"/>
            </a:endParaRPr>
          </a:p>
        </p:txBody>
      </p:sp>
      <p:sp>
        <p:nvSpPr>
          <p:cNvPr id="22" name="Google Shape;22;p1"/>
          <p:cNvSpPr/>
          <p:nvPr/>
        </p:nvSpPr>
        <p:spPr>
          <a:xfrm>
            <a:off x="1878330" y="3748087"/>
            <a:ext cx="4434840" cy="266700"/>
          </a:xfrm>
          <a:prstGeom prst="rect">
            <a:avLst/>
          </a:prstGeom>
          <a:noFill/>
          <a:ln>
            <a:noFill/>
          </a:ln>
        </p:spPr>
        <p:txBody>
          <a:bodyPr anchorCtr="0" anchor="t" bIns="0" lIns="0" spcFirstLastPara="1" rIns="0" wrap="square" tIns="0">
            <a:noAutofit/>
          </a:bodyPr>
          <a:lstStyle/>
          <a:p>
            <a:pPr indent="-342900" lvl="0" marL="342900" marR="0" rtl="0" algn="ctr">
              <a:lnSpc>
                <a:spcPct val="140000"/>
              </a:lnSpc>
              <a:spcBef>
                <a:spcPts val="0"/>
              </a:spcBef>
              <a:spcAft>
                <a:spcPts val="0"/>
              </a:spcAft>
              <a:buClr>
                <a:srgbClr val="4B5563"/>
              </a:buClr>
              <a:buSzPts val="1500"/>
              <a:buFont typeface="Montserrat"/>
              <a:buChar char="•"/>
            </a:pPr>
            <a:r>
              <a:rPr lang="en-US" sz="1500">
                <a:solidFill>
                  <a:srgbClr val="4B5563"/>
                </a:solidFill>
                <a:latin typeface="Montserrat"/>
                <a:ea typeface="Montserrat"/>
                <a:cs typeface="Montserrat"/>
                <a:sym typeface="Montserrat"/>
              </a:rPr>
              <a:t>Abdelrahman Omar</a:t>
            </a:r>
            <a:endParaRPr b="0" i="0" sz="1500" u="none" cap="none" strike="noStrike">
              <a:solidFill>
                <a:schemeClr val="dk1"/>
              </a:solidFill>
              <a:latin typeface="Calibri"/>
              <a:ea typeface="Calibri"/>
              <a:cs typeface="Calibri"/>
              <a:sym typeface="Calibri"/>
            </a:endParaRPr>
          </a:p>
        </p:txBody>
      </p:sp>
      <p:sp>
        <p:nvSpPr>
          <p:cNvPr id="23" name="Google Shape;23;p1"/>
          <p:cNvSpPr/>
          <p:nvPr/>
        </p:nvSpPr>
        <p:spPr>
          <a:xfrm>
            <a:off x="1878330" y="4090987"/>
            <a:ext cx="4434840" cy="266700"/>
          </a:xfrm>
          <a:prstGeom prst="rect">
            <a:avLst/>
          </a:prstGeom>
          <a:noFill/>
          <a:ln>
            <a:noFill/>
          </a:ln>
        </p:spPr>
        <p:txBody>
          <a:bodyPr anchorCtr="0" anchor="t" bIns="0" lIns="0" spcFirstLastPara="1" rIns="0" wrap="square" tIns="0">
            <a:noAutofit/>
          </a:bodyPr>
          <a:lstStyle/>
          <a:p>
            <a:pPr indent="-342900" lvl="0" marL="342900" marR="0" rtl="0" algn="ctr">
              <a:lnSpc>
                <a:spcPct val="140000"/>
              </a:lnSpc>
              <a:spcBef>
                <a:spcPts val="0"/>
              </a:spcBef>
              <a:spcAft>
                <a:spcPts val="0"/>
              </a:spcAft>
              <a:buClr>
                <a:srgbClr val="4B5563"/>
              </a:buClr>
              <a:buSzPts val="1500"/>
              <a:buFont typeface="Montserrat"/>
              <a:buChar char="•"/>
            </a:pPr>
            <a:r>
              <a:rPr lang="en-US" sz="1500">
                <a:solidFill>
                  <a:srgbClr val="4B5563"/>
                </a:solidFill>
                <a:latin typeface="Montserrat"/>
                <a:ea typeface="Montserrat"/>
                <a:cs typeface="Montserrat"/>
                <a:sym typeface="Montserrat"/>
              </a:rPr>
              <a:t>Hager Saad</a:t>
            </a:r>
            <a:endParaRPr b="0" i="0" sz="1500" u="none" cap="none" strike="noStrike">
              <a:solidFill>
                <a:schemeClr val="dk1"/>
              </a:solidFill>
              <a:latin typeface="Calibri"/>
              <a:ea typeface="Calibri"/>
              <a:cs typeface="Calibri"/>
              <a:sym typeface="Calibri"/>
            </a:endParaRPr>
          </a:p>
        </p:txBody>
      </p:sp>
      <p:sp>
        <p:nvSpPr>
          <p:cNvPr id="24" name="Google Shape;24;p1"/>
          <p:cNvSpPr/>
          <p:nvPr/>
        </p:nvSpPr>
        <p:spPr>
          <a:xfrm>
            <a:off x="1878330" y="4433888"/>
            <a:ext cx="4434840" cy="266700"/>
          </a:xfrm>
          <a:prstGeom prst="rect">
            <a:avLst/>
          </a:prstGeom>
          <a:noFill/>
          <a:ln>
            <a:noFill/>
          </a:ln>
        </p:spPr>
        <p:txBody>
          <a:bodyPr anchorCtr="0" anchor="t" bIns="0" lIns="0" spcFirstLastPara="1" rIns="0" wrap="square" tIns="0">
            <a:noAutofit/>
          </a:bodyPr>
          <a:lstStyle/>
          <a:p>
            <a:pPr indent="-342900" lvl="0" marL="342900" marR="0" rtl="0" algn="ctr">
              <a:lnSpc>
                <a:spcPct val="140000"/>
              </a:lnSpc>
              <a:spcBef>
                <a:spcPts val="0"/>
              </a:spcBef>
              <a:spcAft>
                <a:spcPts val="0"/>
              </a:spcAft>
              <a:buClr>
                <a:srgbClr val="4B5563"/>
              </a:buClr>
              <a:buSzPts val="1500"/>
              <a:buFont typeface="Montserrat"/>
              <a:buChar char="•"/>
            </a:pPr>
            <a:r>
              <a:rPr lang="en-US" sz="1500">
                <a:solidFill>
                  <a:srgbClr val="4B5563"/>
                </a:solidFill>
                <a:latin typeface="Montserrat"/>
                <a:ea typeface="Montserrat"/>
                <a:cs typeface="Montserrat"/>
                <a:sym typeface="Montserrat"/>
              </a:rPr>
              <a:t>Rana Mahmoud</a:t>
            </a:r>
            <a:endParaRPr b="0" i="0" sz="1500" u="none" cap="none" strike="noStrike">
              <a:solidFill>
                <a:schemeClr val="dk1"/>
              </a:solidFill>
              <a:latin typeface="Calibri"/>
              <a:ea typeface="Calibri"/>
              <a:cs typeface="Calibri"/>
              <a:sym typeface="Calibri"/>
            </a:endParaRPr>
          </a:p>
        </p:txBody>
      </p:sp>
      <p:sp>
        <p:nvSpPr>
          <p:cNvPr id="25" name="Google Shape;25;p1"/>
          <p:cNvSpPr/>
          <p:nvPr/>
        </p:nvSpPr>
        <p:spPr>
          <a:xfrm>
            <a:off x="6248400" y="2986088"/>
            <a:ext cx="3505200" cy="304800"/>
          </a:xfrm>
          <a:prstGeom prst="rect">
            <a:avLst/>
          </a:prstGeom>
          <a:noFill/>
          <a:ln>
            <a:noFill/>
          </a:ln>
        </p:spPr>
        <p:txBody>
          <a:bodyPr anchorCtr="0" anchor="t" bIns="0" lIns="0" spcFirstLastPara="1" rIns="0" wrap="square" tIns="0">
            <a:noAutofit/>
          </a:bodyPr>
          <a:lstStyle/>
          <a:p>
            <a:pPr indent="0" lvl="0" marL="0" marR="0" rtl="0" algn="ctr">
              <a:lnSpc>
                <a:spcPct val="133333"/>
              </a:lnSpc>
              <a:spcBef>
                <a:spcPts val="0"/>
              </a:spcBef>
              <a:spcAft>
                <a:spcPts val="0"/>
              </a:spcAft>
              <a:buClr>
                <a:srgbClr val="374151"/>
              </a:buClr>
              <a:buSzPts val="1800"/>
              <a:buFont typeface="Montserrat"/>
              <a:buNone/>
            </a:pPr>
            <a:r>
              <a:rPr b="1" i="0" lang="en-US" sz="1800" u="none" cap="none" strike="noStrike">
                <a:solidFill>
                  <a:srgbClr val="374151"/>
                </a:solidFill>
                <a:latin typeface="Montserrat"/>
                <a:ea typeface="Montserrat"/>
                <a:cs typeface="Montserrat"/>
                <a:sym typeface="Montserrat"/>
              </a:rPr>
              <a:t>Supervisor:</a:t>
            </a:r>
            <a:endParaRPr b="0" i="0" sz="1800" u="none" cap="none" strike="noStrike">
              <a:solidFill>
                <a:schemeClr val="dk1"/>
              </a:solidFill>
              <a:latin typeface="Calibri"/>
              <a:ea typeface="Calibri"/>
              <a:cs typeface="Calibri"/>
              <a:sym typeface="Calibri"/>
            </a:endParaRPr>
          </a:p>
        </p:txBody>
      </p:sp>
      <p:sp>
        <p:nvSpPr>
          <p:cNvPr id="26" name="Google Shape;26;p1"/>
          <p:cNvSpPr/>
          <p:nvPr/>
        </p:nvSpPr>
        <p:spPr>
          <a:xfrm>
            <a:off x="5897880" y="3405188"/>
            <a:ext cx="4206240" cy="26670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4B5563"/>
              </a:buClr>
              <a:buSzPts val="1500"/>
              <a:buFont typeface="Montserrat"/>
              <a:buNone/>
            </a:pPr>
            <a:r>
              <a:rPr lang="en-US" sz="1500">
                <a:solidFill>
                  <a:srgbClr val="4B5563"/>
                </a:solidFill>
                <a:latin typeface="Montserrat"/>
                <a:ea typeface="Montserrat"/>
                <a:cs typeface="Montserrat"/>
                <a:sym typeface="Montserrat"/>
              </a:rPr>
              <a:t>Dr.Mohamed Maher</a:t>
            </a:r>
            <a:endParaRPr b="0" i="0" sz="1500" u="none" cap="none" strike="noStrike">
              <a:solidFill>
                <a:schemeClr val="dk1"/>
              </a:solidFill>
              <a:latin typeface="Calibri"/>
              <a:ea typeface="Calibri"/>
              <a:cs typeface="Calibri"/>
              <a:sym typeface="Calibri"/>
            </a:endParaRPr>
          </a:p>
        </p:txBody>
      </p:sp>
      <p:sp>
        <p:nvSpPr>
          <p:cNvPr id="27" name="Google Shape;27;p1"/>
          <p:cNvSpPr/>
          <p:nvPr/>
        </p:nvSpPr>
        <p:spPr>
          <a:xfrm>
            <a:off x="8886825" y="5257800"/>
            <a:ext cx="3417570" cy="266700"/>
          </a:xfrm>
          <a:prstGeom prst="rect">
            <a:avLst/>
          </a:prstGeom>
          <a:noFill/>
          <a:ln>
            <a:noFill/>
          </a:ln>
        </p:spPr>
        <p:txBody>
          <a:bodyPr anchorCtr="0" anchor="t" bIns="0" lIns="0" spcFirstLastPara="1" rIns="0" wrap="square" tIns="0">
            <a:noAutofit/>
          </a:bodyPr>
          <a:lstStyle/>
          <a:p>
            <a:pPr indent="0" lvl="0" marL="0" marR="0" rtl="0" algn="l">
              <a:lnSpc>
                <a:spcPct val="155555"/>
              </a:lnSpc>
              <a:spcBef>
                <a:spcPts val="0"/>
              </a:spcBef>
              <a:spcAft>
                <a:spcPts val="0"/>
              </a:spcAft>
              <a:buClr>
                <a:srgbClr val="4B5563"/>
              </a:buClr>
              <a:buSzPts val="1350"/>
              <a:buFont typeface="Montserrat"/>
              <a:buNone/>
            </a:pPr>
            <a:r>
              <a:rPr b="0" i="0" lang="en-US" sz="1350" u="none" cap="none" strike="noStrike">
                <a:solidFill>
                  <a:srgbClr val="4B5563"/>
                </a:solidFill>
                <a:latin typeface="Montserrat"/>
                <a:ea typeface="Montserrat"/>
                <a:cs typeface="Montserrat"/>
                <a:sym typeface="Montserrat"/>
              </a:rPr>
              <a:t>Submission Date: </a:t>
            </a:r>
            <a:r>
              <a:rPr lang="en-US" sz="1350">
                <a:solidFill>
                  <a:srgbClr val="4B5563"/>
                </a:solidFill>
                <a:latin typeface="Montserrat"/>
                <a:ea typeface="Montserrat"/>
                <a:cs typeface="Montserrat"/>
                <a:sym typeface="Montserrat"/>
              </a:rPr>
              <a:t>2025-11-21</a:t>
            </a:r>
            <a:endParaRPr b="0" i="0" sz="1350" u="none" cap="none" strike="noStrike">
              <a:solidFill>
                <a:schemeClr val="dk1"/>
              </a:solidFill>
              <a:latin typeface="Calibri"/>
              <a:ea typeface="Calibri"/>
              <a:cs typeface="Calibri"/>
              <a:sym typeface="Calibri"/>
            </a:endParaRPr>
          </a:p>
        </p:txBody>
      </p:sp>
      <p:grpSp>
        <p:nvGrpSpPr>
          <p:cNvPr id="28" name="Google Shape;28;p1"/>
          <p:cNvGrpSpPr/>
          <p:nvPr/>
        </p:nvGrpSpPr>
        <p:grpSpPr>
          <a:xfrm>
            <a:off x="0" y="5979638"/>
            <a:ext cx="12192000" cy="764062"/>
            <a:chOff x="0" y="5979638"/>
            <a:chExt cx="12192000" cy="764062"/>
          </a:xfrm>
        </p:grpSpPr>
        <p:pic>
          <p:nvPicPr>
            <p:cNvPr descr="preencoded.png" id="29" name="Google Shape;29;p1"/>
            <p:cNvPicPr preferRelativeResize="0"/>
            <p:nvPr/>
          </p:nvPicPr>
          <p:blipFill rotWithShape="1">
            <a:blip r:embed="rId10">
              <a:alphaModFix/>
            </a:blip>
            <a:srcRect b="0" l="0" r="0" t="0"/>
            <a:stretch/>
          </p:blipFill>
          <p:spPr>
            <a:xfrm>
              <a:off x="0" y="5981700"/>
              <a:ext cx="12192000" cy="762000"/>
            </a:xfrm>
            <a:prstGeom prst="rect">
              <a:avLst/>
            </a:prstGeom>
            <a:noFill/>
            <a:ln>
              <a:noFill/>
            </a:ln>
          </p:spPr>
        </p:pic>
        <p:sp>
          <p:nvSpPr>
            <p:cNvPr id="30" name="Google Shape;30;p1"/>
            <p:cNvSpPr/>
            <p:nvPr/>
          </p:nvSpPr>
          <p:spPr>
            <a:xfrm>
              <a:off x="10418445" y="6276975"/>
              <a:ext cx="1773555" cy="171450"/>
            </a:xfrm>
            <a:prstGeom prst="rect">
              <a:avLst/>
            </a:prstGeom>
            <a:noFill/>
            <a:ln>
              <a:noFill/>
            </a:ln>
          </p:spPr>
          <p:txBody>
            <a:bodyPr anchorCtr="0" anchor="t" bIns="0" lIns="0" spcFirstLastPara="1" rIns="0" wrap="square" tIns="0">
              <a:noAutofit/>
            </a:bodyPr>
            <a:lstStyle/>
            <a:p>
              <a:pPr indent="0" lvl="0" marL="0" marR="0" rtl="0" algn="l">
                <a:lnSpc>
                  <a:spcPct val="83333"/>
                </a:lnSpc>
                <a:spcBef>
                  <a:spcPts val="0"/>
                </a:spcBef>
                <a:spcAft>
                  <a:spcPts val="0"/>
                </a:spcAft>
                <a:buClr>
                  <a:srgbClr val="4B5563"/>
                </a:buClr>
                <a:buSzPts val="1800"/>
                <a:buFont typeface="Montserrat"/>
                <a:buNone/>
              </a:pPr>
              <a:r>
                <a:rPr b="1" i="0" lang="en-US" sz="1800" u="none" cap="none" strike="noStrike">
                  <a:solidFill>
                    <a:srgbClr val="4B5563"/>
                  </a:solidFill>
                  <a:latin typeface="Montserrat"/>
                  <a:ea typeface="Montserrat"/>
                  <a:cs typeface="Montserrat"/>
                  <a:sym typeface="Montserrat"/>
                </a:rPr>
                <a:t>CSAI School</a:t>
              </a:r>
              <a:endParaRPr b="0" i="0" sz="1800" u="none" cap="none" strike="noStrike">
                <a:solidFill>
                  <a:schemeClr val="dk1"/>
                </a:solidFill>
                <a:latin typeface="Calibri"/>
                <a:ea typeface="Calibri"/>
                <a:cs typeface="Calibri"/>
                <a:sym typeface="Calibri"/>
              </a:endParaRPr>
            </a:p>
          </p:txBody>
        </p:sp>
        <p:pic>
          <p:nvPicPr>
            <p:cNvPr id="31" name="Google Shape;31;p1"/>
            <p:cNvPicPr preferRelativeResize="0"/>
            <p:nvPr/>
          </p:nvPicPr>
          <p:blipFill rotWithShape="1">
            <a:blip r:embed="rId11">
              <a:alphaModFix/>
            </a:blip>
            <a:srcRect b="0" l="0" r="0" t="0"/>
            <a:stretch/>
          </p:blipFill>
          <p:spPr>
            <a:xfrm>
              <a:off x="116744" y="5979638"/>
              <a:ext cx="3740342" cy="762039"/>
            </a:xfrm>
            <a:prstGeom prst="rect">
              <a:avLst/>
            </a:prstGeom>
            <a:noFill/>
            <a:ln>
              <a:noFill/>
            </a:ln>
          </p:spPr>
        </p:pic>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 name="Shape 36"/>
        <p:cNvGrpSpPr/>
        <p:nvPr/>
      </p:nvGrpSpPr>
      <p:grpSpPr>
        <a:xfrm>
          <a:off x="0" y="0"/>
          <a:ext cx="0" cy="0"/>
          <a:chOff x="0" y="0"/>
          <a:chExt cx="0" cy="0"/>
        </a:xfrm>
      </p:grpSpPr>
      <p:pic>
        <p:nvPicPr>
          <p:cNvPr descr="preencoded.png" id="37" name="Google Shape;37;p2"/>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preencoded.png" id="38" name="Google Shape;38;p2"/>
          <p:cNvPicPr preferRelativeResize="0"/>
          <p:nvPr/>
        </p:nvPicPr>
        <p:blipFill rotWithShape="1">
          <a:blip r:embed="rId4">
            <a:alphaModFix/>
          </a:blip>
          <a:srcRect b="0" l="0" r="0" t="0"/>
          <a:stretch/>
        </p:blipFill>
        <p:spPr>
          <a:xfrm>
            <a:off x="0" y="0"/>
            <a:ext cx="12192000" cy="762000"/>
          </a:xfrm>
          <a:prstGeom prst="rect">
            <a:avLst/>
          </a:prstGeom>
          <a:noFill/>
          <a:ln>
            <a:noFill/>
          </a:ln>
        </p:spPr>
      </p:pic>
      <p:sp>
        <p:nvSpPr>
          <p:cNvPr id="39" name="Google Shape;39;p2"/>
          <p:cNvSpPr/>
          <p:nvPr/>
        </p:nvSpPr>
        <p:spPr>
          <a:xfrm>
            <a:off x="381000" y="209550"/>
            <a:ext cx="6324600" cy="3429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FFFFF"/>
              </a:buClr>
              <a:buSzPts val="2250"/>
              <a:buFont typeface="Arial"/>
              <a:buNone/>
            </a:pPr>
            <a:r>
              <a:rPr b="1" lang="en-US" sz="2250">
                <a:solidFill>
                  <a:srgbClr val="FFFFFF"/>
                </a:solidFill>
                <a:latin typeface="Arial"/>
                <a:ea typeface="Arial"/>
                <a:cs typeface="Arial"/>
                <a:sym typeface="Arial"/>
              </a:rPr>
              <a:t>The Problem Statement </a:t>
            </a:r>
            <a:endParaRPr sz="2250">
              <a:solidFill>
                <a:schemeClr val="dk1"/>
              </a:solidFill>
              <a:latin typeface="Calibri"/>
              <a:ea typeface="Calibri"/>
              <a:cs typeface="Calibri"/>
              <a:sym typeface="Calibri"/>
            </a:endParaRPr>
          </a:p>
        </p:txBody>
      </p:sp>
      <p:pic>
        <p:nvPicPr>
          <p:cNvPr id="40" name="Google Shape;40;p2"/>
          <p:cNvPicPr preferRelativeResize="0"/>
          <p:nvPr/>
        </p:nvPicPr>
        <p:blipFill>
          <a:blip r:embed="rId5">
            <a:alphaModFix/>
          </a:blip>
          <a:stretch>
            <a:fillRect/>
          </a:stretch>
        </p:blipFill>
        <p:spPr>
          <a:xfrm>
            <a:off x="8181538" y="3631900"/>
            <a:ext cx="4096224" cy="3060175"/>
          </a:xfrm>
          <a:prstGeom prst="rect">
            <a:avLst/>
          </a:prstGeom>
          <a:noFill/>
          <a:ln>
            <a:noFill/>
          </a:ln>
        </p:spPr>
      </p:pic>
      <p:sp>
        <p:nvSpPr>
          <p:cNvPr id="41" name="Google Shape;41;p2"/>
          <p:cNvSpPr/>
          <p:nvPr/>
        </p:nvSpPr>
        <p:spPr>
          <a:xfrm>
            <a:off x="207825" y="1019173"/>
            <a:ext cx="10826100" cy="11247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400"/>
              </a:spcBef>
              <a:spcAft>
                <a:spcPts val="0"/>
              </a:spcAft>
              <a:buNone/>
            </a:pPr>
            <a:r>
              <a:rPr b="1" lang="en-US" sz="1700">
                <a:solidFill>
                  <a:schemeClr val="dk1"/>
                </a:solidFill>
                <a:latin typeface="Times New Roman"/>
                <a:ea typeface="Times New Roman"/>
                <a:cs typeface="Times New Roman"/>
                <a:sym typeface="Times New Roman"/>
              </a:rPr>
              <a:t>Problem Statement</a:t>
            </a:r>
            <a:endParaRPr b="1" sz="17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lang="en-US" sz="1700">
                <a:solidFill>
                  <a:schemeClr val="dk1"/>
                </a:solidFill>
                <a:latin typeface="Times New Roman"/>
                <a:ea typeface="Times New Roman"/>
                <a:cs typeface="Times New Roman"/>
                <a:sym typeface="Times New Roman"/>
              </a:rPr>
              <a:t>Managing a multi-platform social media ecosystem manually results in operational bottlenecks, inconsistent brand messaging, and missed engagement opportunities due to the lack of unified, real-time oversight</a:t>
            </a:r>
            <a:endParaRPr sz="1700">
              <a:solidFill>
                <a:schemeClr val="dk1"/>
              </a:solidFill>
              <a:latin typeface="Times New Roman"/>
              <a:ea typeface="Times New Roman"/>
              <a:cs typeface="Times New Roman"/>
              <a:sym typeface="Times New Roman"/>
            </a:endParaRPr>
          </a:p>
          <a:p>
            <a:pPr indent="0" lvl="0" marL="0" rtl="0" algn="l">
              <a:lnSpc>
                <a:spcPct val="115000"/>
              </a:lnSpc>
              <a:spcBef>
                <a:spcPts val="1400"/>
              </a:spcBef>
              <a:spcAft>
                <a:spcPts val="0"/>
              </a:spcAft>
              <a:buNone/>
            </a:pPr>
            <a:r>
              <a:rPr b="1" lang="en-US" sz="1700">
                <a:solidFill>
                  <a:schemeClr val="dk1"/>
                </a:solidFill>
                <a:latin typeface="Times New Roman"/>
                <a:ea typeface="Times New Roman"/>
                <a:cs typeface="Times New Roman"/>
                <a:sym typeface="Times New Roman"/>
              </a:rPr>
              <a:t>Impact</a:t>
            </a:r>
            <a:endParaRPr b="1" sz="1500">
              <a:solidFill>
                <a:schemeClr val="dk1"/>
              </a:solidFill>
              <a:latin typeface="Times New Roman"/>
              <a:ea typeface="Times New Roman"/>
              <a:cs typeface="Times New Roman"/>
              <a:sym typeface="Times New Roman"/>
            </a:endParaRPr>
          </a:p>
          <a:p>
            <a:pPr indent="-323850" lvl="0" marL="457200" rtl="0" algn="l">
              <a:lnSpc>
                <a:spcPct val="142857"/>
              </a:lnSpc>
              <a:spcBef>
                <a:spcPts val="1000"/>
              </a:spcBef>
              <a:spcAft>
                <a:spcPts val="0"/>
              </a:spcAft>
              <a:buClr>
                <a:srgbClr val="000000"/>
              </a:buClr>
              <a:buSzPts val="1500"/>
              <a:buFont typeface="Inter"/>
              <a:buChar char="●"/>
            </a:pPr>
            <a:r>
              <a:rPr b="1" lang="en-US" sz="1500">
                <a:highlight>
                  <a:srgbClr val="FFFFFF"/>
                </a:highlight>
                <a:latin typeface="Times New Roman"/>
                <a:ea typeface="Times New Roman"/>
                <a:cs typeface="Times New Roman"/>
                <a:sym typeface="Times New Roman"/>
              </a:rPr>
              <a:t>Operational Inefficiency:</a:t>
            </a:r>
            <a:r>
              <a:rPr lang="en-US" sz="1500">
                <a:highlight>
                  <a:srgbClr val="FFFFFF"/>
                </a:highlight>
                <a:latin typeface="Times New Roman"/>
                <a:ea typeface="Times New Roman"/>
                <a:cs typeface="Times New Roman"/>
                <a:sym typeface="Times New Roman"/>
              </a:rPr>
              <a:t> Marketing teams waste 60% of their time on repetitive scheduling rather than strategy.</a:t>
            </a:r>
            <a:endParaRPr sz="1500">
              <a:highlight>
                <a:srgbClr val="FFFFFF"/>
              </a:highlight>
              <a:latin typeface="Times New Roman"/>
              <a:ea typeface="Times New Roman"/>
              <a:cs typeface="Times New Roman"/>
              <a:sym typeface="Times New Roman"/>
            </a:endParaRPr>
          </a:p>
          <a:p>
            <a:pPr indent="-323850" lvl="0" marL="457200" rtl="0" algn="l">
              <a:lnSpc>
                <a:spcPct val="142857"/>
              </a:lnSpc>
              <a:spcBef>
                <a:spcPts val="0"/>
              </a:spcBef>
              <a:spcAft>
                <a:spcPts val="0"/>
              </a:spcAft>
              <a:buClr>
                <a:srgbClr val="000000"/>
              </a:buClr>
              <a:buSzPts val="1500"/>
              <a:buFont typeface="Inter"/>
              <a:buChar char="●"/>
            </a:pPr>
            <a:r>
              <a:rPr b="1" lang="en-US" sz="1500">
                <a:highlight>
                  <a:srgbClr val="FFFFFF"/>
                </a:highlight>
                <a:latin typeface="Times New Roman"/>
                <a:ea typeface="Times New Roman"/>
                <a:cs typeface="Times New Roman"/>
                <a:sym typeface="Times New Roman"/>
              </a:rPr>
              <a:t>Brand Dilution:</a:t>
            </a:r>
            <a:r>
              <a:rPr lang="en-US" sz="1500">
                <a:highlight>
                  <a:srgbClr val="FFFFFF"/>
                </a:highlight>
                <a:latin typeface="Times New Roman"/>
                <a:ea typeface="Times New Roman"/>
                <a:cs typeface="Times New Roman"/>
                <a:sym typeface="Times New Roman"/>
              </a:rPr>
              <a:t> Fragmented execution across channels damages brand integrity and reduces customer trust.</a:t>
            </a:r>
            <a:endParaRPr sz="1500">
              <a:highlight>
                <a:srgbClr val="FFFFFF"/>
              </a:highlight>
              <a:latin typeface="Times New Roman"/>
              <a:ea typeface="Times New Roman"/>
              <a:cs typeface="Times New Roman"/>
              <a:sym typeface="Times New Roman"/>
            </a:endParaRPr>
          </a:p>
          <a:p>
            <a:pPr indent="-323850" lvl="0" marL="457200" rtl="0" algn="l">
              <a:lnSpc>
                <a:spcPct val="142857"/>
              </a:lnSpc>
              <a:spcBef>
                <a:spcPts val="0"/>
              </a:spcBef>
              <a:spcAft>
                <a:spcPts val="0"/>
              </a:spcAft>
              <a:buClr>
                <a:srgbClr val="000000"/>
              </a:buClr>
              <a:buSzPts val="1500"/>
              <a:buFont typeface="Inter"/>
              <a:buChar char="●"/>
            </a:pPr>
            <a:r>
              <a:rPr b="1" lang="en-US" sz="1500">
                <a:highlight>
                  <a:srgbClr val="FFFFFF"/>
                </a:highlight>
                <a:latin typeface="Times New Roman"/>
                <a:ea typeface="Times New Roman"/>
                <a:cs typeface="Times New Roman"/>
                <a:sym typeface="Times New Roman"/>
              </a:rPr>
              <a:t>Revenue Loss:</a:t>
            </a:r>
            <a:r>
              <a:rPr lang="en-US" sz="1500">
                <a:highlight>
                  <a:srgbClr val="FFFFFF"/>
                </a:highlight>
                <a:latin typeface="Times New Roman"/>
                <a:ea typeface="Times New Roman"/>
                <a:cs typeface="Times New Roman"/>
                <a:sym typeface="Times New Roman"/>
              </a:rPr>
              <a:t> Slow response times to customer inquiries lead to lower conversion rates and customer churn.</a:t>
            </a:r>
            <a:endParaRPr sz="1500">
              <a:latin typeface="Times New Roman"/>
              <a:ea typeface="Times New Roman"/>
              <a:cs typeface="Times New Roman"/>
              <a:sym typeface="Times New Roman"/>
            </a:endParaRPr>
          </a:p>
          <a:p>
            <a:pPr indent="0" lvl="0" marL="0" rtl="0" algn="l">
              <a:lnSpc>
                <a:spcPct val="115000"/>
              </a:lnSpc>
              <a:spcBef>
                <a:spcPts val="1400"/>
              </a:spcBef>
              <a:spcAft>
                <a:spcPts val="0"/>
              </a:spcAft>
              <a:buNone/>
            </a:pPr>
            <a:r>
              <a:t/>
            </a:r>
            <a:endParaRPr sz="1500">
              <a:solidFill>
                <a:schemeClr val="dk1"/>
              </a:solidFill>
              <a:latin typeface="Times New Roman"/>
              <a:ea typeface="Times New Roman"/>
              <a:cs typeface="Times New Roman"/>
              <a:sym typeface="Times New Roman"/>
            </a:endParaRPr>
          </a:p>
          <a:p>
            <a:pPr indent="0" lvl="0" marL="0" rtl="0" algn="l">
              <a:lnSpc>
                <a:spcPct val="115000"/>
              </a:lnSpc>
              <a:spcBef>
                <a:spcPts val="1400"/>
              </a:spcBef>
              <a:spcAft>
                <a:spcPts val="0"/>
              </a:spcAft>
              <a:buNone/>
            </a:pPr>
            <a:r>
              <a:rPr b="1" lang="en-US" sz="1700">
                <a:solidFill>
                  <a:schemeClr val="dk1"/>
                </a:solidFill>
                <a:latin typeface="Times New Roman"/>
                <a:ea typeface="Times New Roman"/>
                <a:cs typeface="Times New Roman"/>
                <a:sym typeface="Times New Roman"/>
              </a:rPr>
              <a:t>Motivation</a:t>
            </a:r>
            <a:endParaRPr sz="1500">
              <a:solidFill>
                <a:schemeClr val="dk1"/>
              </a:solidFill>
              <a:latin typeface="Times New Roman"/>
              <a:ea typeface="Times New Roman"/>
              <a:cs typeface="Times New Roman"/>
              <a:sym typeface="Times New Roman"/>
            </a:endParaRPr>
          </a:p>
          <a:p>
            <a:pPr indent="0" lvl="0" marL="0" rtl="0" algn="l">
              <a:lnSpc>
                <a:spcPct val="100000"/>
              </a:lnSpc>
              <a:spcBef>
                <a:spcPts val="400"/>
              </a:spcBef>
              <a:spcAft>
                <a:spcPts val="0"/>
              </a:spcAft>
              <a:buNone/>
            </a:pPr>
            <a:r>
              <a:rPr lang="en-US" sz="1600">
                <a:highlight>
                  <a:srgbClr val="FFFFFF"/>
                </a:highlight>
                <a:latin typeface="Times New Roman"/>
                <a:ea typeface="Times New Roman"/>
                <a:cs typeface="Times New Roman"/>
                <a:sym typeface="Times New Roman"/>
              </a:rPr>
              <a:t>In the age of 24/7 digital interaction, businesses need an "always-on" heartbeat. </a:t>
            </a:r>
            <a:endParaRPr sz="1600">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None/>
            </a:pPr>
            <a:r>
              <a:rPr lang="en-US" sz="1600">
                <a:highlight>
                  <a:srgbClr val="FFFFFF"/>
                </a:highlight>
                <a:latin typeface="Times New Roman"/>
                <a:ea typeface="Times New Roman"/>
                <a:cs typeface="Times New Roman"/>
                <a:sym typeface="Times New Roman"/>
              </a:rPr>
              <a:t>Current tools are passive "co-pilots"; there is an urgent need for an </a:t>
            </a:r>
            <a:r>
              <a:rPr b="1" lang="en-US" sz="1600">
                <a:highlight>
                  <a:srgbClr val="FFFFFF"/>
                </a:highlight>
                <a:latin typeface="Times New Roman"/>
                <a:ea typeface="Times New Roman"/>
                <a:cs typeface="Times New Roman"/>
                <a:sym typeface="Times New Roman"/>
              </a:rPr>
              <a:t>autonomous agentic workflow</a:t>
            </a:r>
            <a:r>
              <a:rPr lang="en-US" sz="1600">
                <a:highlight>
                  <a:srgbClr val="FFFFFF"/>
                </a:highlight>
                <a:latin typeface="Times New Roman"/>
                <a:ea typeface="Times New Roman"/>
                <a:cs typeface="Times New Roman"/>
                <a:sym typeface="Times New Roman"/>
              </a:rPr>
              <a:t> </a:t>
            </a:r>
            <a:endParaRPr sz="1600">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None/>
            </a:pPr>
            <a:r>
              <a:rPr lang="en-US" sz="1600">
                <a:highlight>
                  <a:srgbClr val="FFFFFF"/>
                </a:highlight>
                <a:latin typeface="Times New Roman"/>
                <a:ea typeface="Times New Roman"/>
                <a:cs typeface="Times New Roman"/>
                <a:sym typeface="Times New Roman"/>
              </a:rPr>
              <a:t>that can monitor, reason, and execute marketing tasks in real-time to maintain a competitive edge.</a:t>
            </a:r>
            <a:endParaRPr sz="1600">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t/>
            </a:r>
            <a:endParaRPr sz="1200">
              <a:solidFill>
                <a:schemeClr val="dk1"/>
              </a:solidFill>
            </a:endParaRPr>
          </a:p>
          <a:p>
            <a:pPr indent="0" lvl="0" marL="0" rtl="0" algn="l">
              <a:lnSpc>
                <a:spcPct val="115000"/>
              </a:lnSpc>
              <a:spcBef>
                <a:spcPts val="1200"/>
              </a:spcBef>
              <a:spcAft>
                <a:spcPts val="0"/>
              </a:spcAft>
              <a:buNone/>
            </a:pPr>
            <a:r>
              <a:t/>
            </a:r>
            <a:endParaRPr sz="1100">
              <a:solidFill>
                <a:schemeClr val="dk1"/>
              </a:solidFill>
            </a:endParaRPr>
          </a:p>
          <a:p>
            <a:pPr indent="0" lvl="0" marL="914400" marR="0" rtl="0" algn="l">
              <a:spcBef>
                <a:spcPts val="1200"/>
              </a:spcBef>
              <a:spcAft>
                <a:spcPts val="0"/>
              </a:spcAft>
              <a:buNone/>
            </a:pPr>
            <a:br>
              <a:rPr b="0" i="0" lang="en-US" sz="1800" u="none" cap="none" strike="noStrike">
                <a:solidFill>
                  <a:srgbClr val="FF0000"/>
                </a:solidFill>
                <a:latin typeface="Calibri"/>
                <a:ea typeface="Calibri"/>
                <a:cs typeface="Calibri"/>
                <a:sym typeface="Calibri"/>
              </a:rPr>
            </a:br>
            <a:endParaRPr b="0" i="0" sz="1800" u="none" cap="none" strike="noStrike">
              <a:solidFill>
                <a:srgbClr val="FF0000"/>
              </a:solidFill>
              <a:latin typeface="Calibri"/>
              <a:ea typeface="Calibri"/>
              <a:cs typeface="Calibri"/>
              <a:sym typeface="Calibri"/>
            </a:endParaRPr>
          </a:p>
        </p:txBody>
      </p:sp>
      <p:pic>
        <p:nvPicPr>
          <p:cNvPr id="42" name="Google Shape;42;p2"/>
          <p:cNvPicPr preferRelativeResize="0"/>
          <p:nvPr/>
        </p:nvPicPr>
        <p:blipFill rotWithShape="1">
          <a:blip r:embed="rId6">
            <a:alphaModFix/>
          </a:blip>
          <a:srcRect b="0" l="0" r="0" t="0"/>
          <a:stretch/>
        </p:blipFill>
        <p:spPr>
          <a:xfrm>
            <a:off x="8451658" y="0"/>
            <a:ext cx="3740342" cy="762039"/>
          </a:xfrm>
          <a:prstGeom prst="rect">
            <a:avLst/>
          </a:prstGeom>
          <a:noFill/>
          <a:ln>
            <a:noFill/>
          </a:ln>
        </p:spPr>
      </p:pic>
      <p:pic>
        <p:nvPicPr>
          <p:cNvPr descr="preencoded.png" id="43" name="Google Shape;43;p2"/>
          <p:cNvPicPr preferRelativeResize="0"/>
          <p:nvPr/>
        </p:nvPicPr>
        <p:blipFill rotWithShape="1">
          <a:blip r:embed="rId7">
            <a:alphaModFix/>
          </a:blip>
          <a:srcRect b="0" l="0" r="0" t="0"/>
          <a:stretch/>
        </p:blipFill>
        <p:spPr>
          <a:xfrm>
            <a:off x="0" y="762000"/>
            <a:ext cx="12192000" cy="47625"/>
          </a:xfrm>
          <a:prstGeom prst="rect">
            <a:avLst/>
          </a:prstGeom>
          <a:noFill/>
          <a:ln>
            <a:noFill/>
          </a:ln>
        </p:spPr>
      </p:pic>
      <p:sp>
        <p:nvSpPr>
          <p:cNvPr id="44" name="Google Shape;44;p2"/>
          <p:cNvSpPr txBox="1"/>
          <p:nvPr/>
        </p:nvSpPr>
        <p:spPr>
          <a:xfrm>
            <a:off x="4225788" y="5717025"/>
            <a:ext cx="3740400" cy="58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US" sz="1500">
                <a:latin typeface="Times New Roman"/>
                <a:ea typeface="Times New Roman"/>
                <a:cs typeface="Times New Roman"/>
                <a:sym typeface="Times New Roman"/>
              </a:rPr>
              <a:t>Market Size Value In 2025	</a:t>
            </a:r>
            <a:r>
              <a:rPr b="1" lang="en-US" sz="1500">
                <a:solidFill>
                  <a:srgbClr val="0000FF"/>
                </a:solidFill>
                <a:latin typeface="Times New Roman"/>
                <a:ea typeface="Times New Roman"/>
                <a:cs typeface="Times New Roman"/>
                <a:sym typeface="Times New Roman"/>
              </a:rPr>
              <a:t>$256.5 billion</a:t>
            </a:r>
            <a:endParaRPr b="1" sz="1500">
              <a:solidFill>
                <a:srgbClr val="0000FF"/>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b="1" lang="en-US" sz="1500">
                <a:latin typeface="Times New Roman"/>
                <a:ea typeface="Times New Roman"/>
                <a:cs typeface="Times New Roman"/>
                <a:sym typeface="Times New Roman"/>
              </a:rPr>
              <a:t>Revenue Forecast In 2034	</a:t>
            </a:r>
            <a:r>
              <a:rPr b="1" lang="en-US" sz="1500">
                <a:solidFill>
                  <a:srgbClr val="CC0000"/>
                </a:solidFill>
                <a:latin typeface="Times New Roman"/>
                <a:ea typeface="Times New Roman"/>
                <a:cs typeface="Times New Roman"/>
                <a:sym typeface="Times New Roman"/>
              </a:rPr>
              <a:t>$406.64 billion</a:t>
            </a:r>
            <a:endParaRPr b="1" sz="1500">
              <a:solidFill>
                <a:srgbClr val="CC0000"/>
              </a:solidFill>
              <a:latin typeface="Times New Roman"/>
              <a:ea typeface="Times New Roman"/>
              <a:cs typeface="Times New Roman"/>
              <a:sym typeface="Times New Roman"/>
            </a:endParaRPr>
          </a:p>
          <a:p>
            <a:pPr indent="0" lvl="0" marL="0" rtl="0" algn="l">
              <a:spcBef>
                <a:spcPts val="0"/>
              </a:spcBef>
              <a:spcAft>
                <a:spcPts val="0"/>
              </a:spcAft>
              <a:buNone/>
            </a:pPr>
            <a:r>
              <a:t/>
            </a:r>
            <a:endParaRPr b="1" sz="1600">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 name="Shape 49"/>
        <p:cNvGrpSpPr/>
        <p:nvPr/>
      </p:nvGrpSpPr>
      <p:grpSpPr>
        <a:xfrm>
          <a:off x="0" y="0"/>
          <a:ext cx="0" cy="0"/>
          <a:chOff x="0" y="0"/>
          <a:chExt cx="0" cy="0"/>
        </a:xfrm>
      </p:grpSpPr>
      <p:pic>
        <p:nvPicPr>
          <p:cNvPr descr="preencoded.png" id="50" name="Google Shape;50;p3"/>
          <p:cNvPicPr preferRelativeResize="0"/>
          <p:nvPr/>
        </p:nvPicPr>
        <p:blipFill rotWithShape="1">
          <a:blip r:embed="rId3">
            <a:alphaModFix/>
          </a:blip>
          <a:srcRect b="0" l="0" r="0" t="0"/>
          <a:stretch/>
        </p:blipFill>
        <p:spPr>
          <a:xfrm>
            <a:off x="0" y="0"/>
            <a:ext cx="12191999" cy="7286626"/>
          </a:xfrm>
          <a:prstGeom prst="rect">
            <a:avLst/>
          </a:prstGeom>
          <a:noFill/>
          <a:ln>
            <a:noFill/>
          </a:ln>
        </p:spPr>
      </p:pic>
      <p:pic>
        <p:nvPicPr>
          <p:cNvPr descr="preencoded.png" id="51" name="Google Shape;51;p3"/>
          <p:cNvPicPr preferRelativeResize="0"/>
          <p:nvPr/>
        </p:nvPicPr>
        <p:blipFill rotWithShape="1">
          <a:blip r:embed="rId4">
            <a:alphaModFix/>
          </a:blip>
          <a:srcRect b="0" l="0" r="0" t="0"/>
          <a:stretch/>
        </p:blipFill>
        <p:spPr>
          <a:xfrm>
            <a:off x="0" y="0"/>
            <a:ext cx="12191999" cy="762039"/>
          </a:xfrm>
          <a:prstGeom prst="rect">
            <a:avLst/>
          </a:prstGeom>
          <a:noFill/>
          <a:ln>
            <a:noFill/>
          </a:ln>
        </p:spPr>
      </p:pic>
      <p:sp>
        <p:nvSpPr>
          <p:cNvPr id="52" name="Google Shape;52;p3"/>
          <p:cNvSpPr/>
          <p:nvPr/>
        </p:nvSpPr>
        <p:spPr>
          <a:xfrm>
            <a:off x="381000" y="190500"/>
            <a:ext cx="11430000" cy="3429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FFFFF"/>
              </a:buClr>
              <a:buSzPts val="2250"/>
              <a:buFont typeface="Arial"/>
              <a:buNone/>
            </a:pPr>
            <a:r>
              <a:rPr b="1" lang="en-US" sz="2250">
                <a:solidFill>
                  <a:srgbClr val="FFFFFF"/>
                </a:solidFill>
                <a:latin typeface="Arial"/>
                <a:ea typeface="Arial"/>
                <a:cs typeface="Arial"/>
                <a:sym typeface="Arial"/>
              </a:rPr>
              <a:t>The Proposed Solution</a:t>
            </a:r>
            <a:endParaRPr sz="2250">
              <a:solidFill>
                <a:schemeClr val="dk1"/>
              </a:solidFill>
              <a:latin typeface="Calibri"/>
              <a:ea typeface="Calibri"/>
              <a:cs typeface="Calibri"/>
              <a:sym typeface="Calibri"/>
            </a:endParaRPr>
          </a:p>
        </p:txBody>
      </p:sp>
      <p:sp>
        <p:nvSpPr>
          <p:cNvPr id="53" name="Google Shape;53;p3"/>
          <p:cNvSpPr/>
          <p:nvPr/>
        </p:nvSpPr>
        <p:spPr>
          <a:xfrm>
            <a:off x="609600" y="533400"/>
            <a:ext cx="4876800" cy="533400"/>
          </a:xfrm>
          <a:prstGeom prst="rect">
            <a:avLst/>
          </a:prstGeom>
          <a:noFill/>
          <a:ln>
            <a:noFill/>
          </a:ln>
        </p:spPr>
        <p:txBody>
          <a:bodyPr anchorCtr="0" anchor="t" bIns="0" lIns="0" spcFirstLastPara="1" rIns="0" wrap="square" tIns="0">
            <a:noAutofit/>
          </a:bodyPr>
          <a:lstStyle/>
          <a:p>
            <a:pPr indent="0" lvl="0" marL="0" marR="0" rtl="0" algn="l">
              <a:lnSpc>
                <a:spcPct val="155555"/>
              </a:lnSpc>
              <a:spcBef>
                <a:spcPts val="0"/>
              </a:spcBef>
              <a:spcAft>
                <a:spcPts val="0"/>
              </a:spcAft>
              <a:buClr>
                <a:schemeClr val="dk1"/>
              </a:buClr>
              <a:buSzPts val="1350"/>
              <a:buFont typeface="Calibri"/>
              <a:buNone/>
            </a:pPr>
            <a:r>
              <a:t/>
            </a:r>
            <a:endParaRPr sz="1350">
              <a:solidFill>
                <a:schemeClr val="dk1"/>
              </a:solidFill>
              <a:latin typeface="Calibri"/>
              <a:ea typeface="Calibri"/>
              <a:cs typeface="Calibri"/>
              <a:sym typeface="Calibri"/>
            </a:endParaRPr>
          </a:p>
        </p:txBody>
      </p:sp>
      <p:pic>
        <p:nvPicPr>
          <p:cNvPr id="54" name="Google Shape;54;p3"/>
          <p:cNvPicPr preferRelativeResize="0"/>
          <p:nvPr/>
        </p:nvPicPr>
        <p:blipFill rotWithShape="1">
          <a:blip r:embed="rId5">
            <a:alphaModFix/>
          </a:blip>
          <a:srcRect b="0" l="0" r="0" t="0"/>
          <a:stretch/>
        </p:blipFill>
        <p:spPr>
          <a:xfrm>
            <a:off x="8451658" y="0"/>
            <a:ext cx="3740341" cy="762039"/>
          </a:xfrm>
          <a:prstGeom prst="rect">
            <a:avLst/>
          </a:prstGeom>
          <a:noFill/>
          <a:ln>
            <a:noFill/>
          </a:ln>
        </p:spPr>
      </p:pic>
      <p:sp>
        <p:nvSpPr>
          <p:cNvPr id="55" name="Google Shape;55;p3"/>
          <p:cNvSpPr/>
          <p:nvPr/>
        </p:nvSpPr>
        <p:spPr>
          <a:xfrm>
            <a:off x="297525" y="1311877"/>
            <a:ext cx="10826100" cy="11085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400"/>
              </a:spcBef>
              <a:spcAft>
                <a:spcPts val="0"/>
              </a:spcAft>
              <a:buNone/>
            </a:pPr>
            <a:r>
              <a:rPr b="1" lang="en-US" sz="1500">
                <a:solidFill>
                  <a:schemeClr val="dk1"/>
                </a:solidFill>
              </a:rPr>
              <a:t>Proposed Solution Overview</a:t>
            </a:r>
            <a:endParaRPr b="1" sz="1500">
              <a:solidFill>
                <a:schemeClr val="dk1"/>
              </a:solidFill>
            </a:endParaRPr>
          </a:p>
          <a:p>
            <a:pPr indent="0" lvl="0" marL="0" rtl="0" algn="l">
              <a:lnSpc>
                <a:spcPct val="115000"/>
              </a:lnSpc>
              <a:spcBef>
                <a:spcPts val="400"/>
              </a:spcBef>
              <a:spcAft>
                <a:spcPts val="0"/>
              </a:spcAft>
              <a:buNone/>
            </a:pPr>
            <a:r>
              <a:rPr lang="en-US" sz="1600">
                <a:latin typeface="Times New Roman"/>
                <a:ea typeface="Times New Roman"/>
                <a:cs typeface="Times New Roman"/>
                <a:sym typeface="Times New Roman"/>
              </a:rPr>
              <a:t>Pulse is an autonomous, Multi-Agent System (MAS) that orchestrates the entire social media lifecycle. Unlike standard schedulers, Pulse employs four specialized AI agents to autonomously plan strategies, generate content, engage customers, and analyze performance in a closed feedback loop.</a:t>
            </a:r>
            <a:endParaRPr sz="1600">
              <a:latin typeface="Times New Roman"/>
              <a:ea typeface="Times New Roman"/>
              <a:cs typeface="Times New Roman"/>
              <a:sym typeface="Times New Roman"/>
            </a:endParaRPr>
          </a:p>
          <a:p>
            <a:pPr indent="0" lvl="0" marL="0" rtl="0" algn="l">
              <a:lnSpc>
                <a:spcPct val="115000"/>
              </a:lnSpc>
              <a:spcBef>
                <a:spcPts val="1400"/>
              </a:spcBef>
              <a:spcAft>
                <a:spcPts val="0"/>
              </a:spcAft>
              <a:buNone/>
            </a:pPr>
            <a:r>
              <a:t/>
            </a:r>
            <a:endParaRPr b="1" sz="1500">
              <a:solidFill>
                <a:schemeClr val="dk1"/>
              </a:solidFill>
            </a:endParaRPr>
          </a:p>
          <a:p>
            <a:pPr indent="0" lvl="0" marL="0" rtl="0" algn="l">
              <a:lnSpc>
                <a:spcPct val="115000"/>
              </a:lnSpc>
              <a:spcBef>
                <a:spcPts val="1400"/>
              </a:spcBef>
              <a:spcAft>
                <a:spcPts val="0"/>
              </a:spcAft>
              <a:buNone/>
            </a:pPr>
            <a:r>
              <a:rPr b="1" lang="en-US" sz="1500">
                <a:solidFill>
                  <a:schemeClr val="dk1"/>
                </a:solidFill>
              </a:rPr>
              <a:t>Key Features</a:t>
            </a:r>
            <a:endParaRPr b="1" sz="1500">
              <a:solidFill>
                <a:schemeClr val="dk1"/>
              </a:solidFill>
            </a:endParaRPr>
          </a:p>
          <a:p>
            <a:pPr indent="-323850" lvl="0" marL="457200" rtl="0" algn="l">
              <a:lnSpc>
                <a:spcPct val="150000"/>
              </a:lnSpc>
              <a:spcBef>
                <a:spcPts val="400"/>
              </a:spcBef>
              <a:spcAft>
                <a:spcPts val="0"/>
              </a:spcAft>
              <a:buClr>
                <a:srgbClr val="1A1C1E"/>
              </a:buClr>
              <a:buSzPts val="1500"/>
              <a:buFont typeface="Inter"/>
              <a:buChar char="●"/>
            </a:pPr>
            <a:r>
              <a:rPr b="1" lang="en-US" sz="1500">
                <a:solidFill>
                  <a:srgbClr val="1A1C1E"/>
                </a:solidFill>
                <a:highlight>
                  <a:srgbClr val="FFFFFF"/>
                </a:highlight>
                <a:latin typeface="Times New Roman"/>
                <a:ea typeface="Times New Roman"/>
                <a:cs typeface="Times New Roman"/>
                <a:sym typeface="Times New Roman"/>
              </a:rPr>
              <a:t>Multi-Agent Architecture:</a:t>
            </a:r>
            <a:r>
              <a:rPr lang="en-US" sz="1500">
                <a:solidFill>
                  <a:srgbClr val="1A1C1E"/>
                </a:solidFill>
                <a:highlight>
                  <a:srgbClr val="FFFFFF"/>
                </a:highlight>
                <a:latin typeface="Times New Roman"/>
                <a:ea typeface="Times New Roman"/>
                <a:cs typeface="Times New Roman"/>
                <a:sym typeface="Times New Roman"/>
              </a:rPr>
              <a:t> Collaborative agents (Strategist, Analyst, Customer Support, Content Engine) that delegate tasks and share context.</a:t>
            </a:r>
            <a:endParaRPr sz="1500">
              <a:solidFill>
                <a:srgbClr val="1A1C1E"/>
              </a:solidFill>
              <a:highlight>
                <a:srgbClr val="FFFFFF"/>
              </a:highlight>
              <a:latin typeface="Times New Roman"/>
              <a:ea typeface="Times New Roman"/>
              <a:cs typeface="Times New Roman"/>
              <a:sym typeface="Times New Roman"/>
            </a:endParaRPr>
          </a:p>
          <a:p>
            <a:pPr indent="-323850" lvl="0" marL="457200" rtl="0" algn="l">
              <a:lnSpc>
                <a:spcPct val="150000"/>
              </a:lnSpc>
              <a:spcBef>
                <a:spcPts val="0"/>
              </a:spcBef>
              <a:spcAft>
                <a:spcPts val="0"/>
              </a:spcAft>
              <a:buClr>
                <a:srgbClr val="1A1C1E"/>
              </a:buClr>
              <a:buSzPts val="1500"/>
              <a:buFont typeface="Inter"/>
              <a:buChar char="●"/>
            </a:pPr>
            <a:r>
              <a:rPr b="1" lang="en-US" sz="1500">
                <a:solidFill>
                  <a:srgbClr val="1A1C1E"/>
                </a:solidFill>
                <a:highlight>
                  <a:srgbClr val="FFFFFF"/>
                </a:highlight>
                <a:latin typeface="Times New Roman"/>
                <a:ea typeface="Times New Roman"/>
                <a:cs typeface="Times New Roman"/>
                <a:sym typeface="Times New Roman"/>
              </a:rPr>
              <a:t>"Business DNA" Extraction:</a:t>
            </a:r>
            <a:r>
              <a:rPr lang="en-US" sz="1500">
                <a:solidFill>
                  <a:srgbClr val="1A1C1E"/>
                </a:solidFill>
                <a:highlight>
                  <a:srgbClr val="FFFFFF"/>
                </a:highlight>
                <a:latin typeface="Times New Roman"/>
                <a:ea typeface="Times New Roman"/>
                <a:cs typeface="Times New Roman"/>
                <a:sym typeface="Times New Roman"/>
              </a:rPr>
              <a:t> The system ingests and encodes the brand’s core assets like </a:t>
            </a:r>
            <a:r>
              <a:rPr b="1" lang="en-US" sz="1500">
                <a:solidFill>
                  <a:srgbClr val="1A1C1E"/>
                </a:solidFill>
                <a:highlight>
                  <a:srgbClr val="FFFFFF"/>
                </a:highlight>
                <a:latin typeface="Times New Roman"/>
                <a:ea typeface="Times New Roman"/>
                <a:cs typeface="Times New Roman"/>
                <a:sym typeface="Times New Roman"/>
              </a:rPr>
              <a:t>logos, fonts, color palettes, and tone of voice</a:t>
            </a:r>
            <a:r>
              <a:rPr lang="en-US" sz="1500">
                <a:solidFill>
                  <a:srgbClr val="1A1C1E"/>
                </a:solidFill>
                <a:highlight>
                  <a:srgbClr val="FFFFFF"/>
                </a:highlight>
                <a:latin typeface="Times New Roman"/>
                <a:ea typeface="Times New Roman"/>
                <a:cs typeface="Times New Roman"/>
                <a:sym typeface="Times New Roman"/>
              </a:rPr>
              <a:t> into a semantic knowledge base. This ensures every autonomously generated post is visually and tonally consistent with the brand identity.</a:t>
            </a:r>
            <a:endParaRPr sz="1500">
              <a:solidFill>
                <a:srgbClr val="1A1C1E"/>
              </a:solidFill>
              <a:highlight>
                <a:srgbClr val="FFFFFF"/>
              </a:highlight>
              <a:latin typeface="Times New Roman"/>
              <a:ea typeface="Times New Roman"/>
              <a:cs typeface="Times New Roman"/>
              <a:sym typeface="Times New Roman"/>
            </a:endParaRPr>
          </a:p>
          <a:p>
            <a:pPr indent="-323850" lvl="0" marL="457200" rtl="0" algn="l">
              <a:lnSpc>
                <a:spcPct val="150000"/>
              </a:lnSpc>
              <a:spcBef>
                <a:spcPts val="0"/>
              </a:spcBef>
              <a:spcAft>
                <a:spcPts val="0"/>
              </a:spcAft>
              <a:buClr>
                <a:srgbClr val="1A1C1E"/>
              </a:buClr>
              <a:buSzPts val="1500"/>
              <a:buFont typeface="Inter"/>
              <a:buChar char="●"/>
            </a:pPr>
            <a:r>
              <a:rPr b="1" lang="en-US" sz="1500">
                <a:solidFill>
                  <a:srgbClr val="1A1C1E"/>
                </a:solidFill>
                <a:highlight>
                  <a:srgbClr val="FFFFFF"/>
                </a:highlight>
                <a:latin typeface="Times New Roman"/>
                <a:ea typeface="Times New Roman"/>
                <a:cs typeface="Times New Roman"/>
                <a:sym typeface="Times New Roman"/>
              </a:rPr>
              <a:t>Closed-Loop Optimization:</a:t>
            </a:r>
            <a:r>
              <a:rPr lang="en-US" sz="1500">
                <a:solidFill>
                  <a:srgbClr val="1A1C1E"/>
                </a:solidFill>
                <a:highlight>
                  <a:srgbClr val="FFFFFF"/>
                </a:highlight>
                <a:latin typeface="Times New Roman"/>
                <a:ea typeface="Times New Roman"/>
                <a:cs typeface="Times New Roman"/>
                <a:sym typeface="Times New Roman"/>
              </a:rPr>
              <a:t> The Performance Analyst Agent autonomously retrains the Content Engine based on real-time analytics (e.g., "Stop using emojis in LinkedIn posts, they lower CTR").</a:t>
            </a:r>
            <a:endParaRPr sz="1500">
              <a:solidFill>
                <a:srgbClr val="1A1C1E"/>
              </a:solidFill>
              <a:highlight>
                <a:srgbClr val="FFFFFF"/>
              </a:highlight>
              <a:latin typeface="Times New Roman"/>
              <a:ea typeface="Times New Roman"/>
              <a:cs typeface="Times New Roman"/>
              <a:sym typeface="Times New Roman"/>
            </a:endParaRPr>
          </a:p>
          <a:p>
            <a:pPr indent="-323850" lvl="0" marL="457200" rtl="0" algn="l">
              <a:lnSpc>
                <a:spcPct val="150000"/>
              </a:lnSpc>
              <a:spcBef>
                <a:spcPts val="0"/>
              </a:spcBef>
              <a:spcAft>
                <a:spcPts val="0"/>
              </a:spcAft>
              <a:buClr>
                <a:srgbClr val="1A1C1E"/>
              </a:buClr>
              <a:buSzPts val="1500"/>
              <a:buFont typeface="Inter"/>
              <a:buChar char="●"/>
            </a:pPr>
            <a:r>
              <a:rPr b="1" lang="en-US" sz="1500">
                <a:solidFill>
                  <a:srgbClr val="1A1C1E"/>
                </a:solidFill>
                <a:highlight>
                  <a:srgbClr val="FFFFFF"/>
                </a:highlight>
                <a:latin typeface="Times New Roman"/>
                <a:ea typeface="Times New Roman"/>
                <a:cs typeface="Times New Roman"/>
                <a:sym typeface="Times New Roman"/>
              </a:rPr>
              <a:t>Real-Time Engagement:</a:t>
            </a:r>
            <a:r>
              <a:rPr lang="en-US" sz="1500">
                <a:solidFill>
                  <a:srgbClr val="1A1C1E"/>
                </a:solidFill>
                <a:highlight>
                  <a:srgbClr val="FFFFFF"/>
                </a:highlight>
                <a:latin typeface="Times New Roman"/>
                <a:ea typeface="Times New Roman"/>
                <a:cs typeface="Times New Roman"/>
                <a:sym typeface="Times New Roman"/>
              </a:rPr>
              <a:t> NLP-driven instant responses to DMs and comments, maintaining the brand's heartbeat 24/7.</a:t>
            </a:r>
            <a:endParaRPr sz="15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t/>
            </a:r>
            <a:endParaRPr b="1" sz="1800">
              <a:solidFill>
                <a:srgbClr val="FF0000"/>
              </a:solidFill>
            </a:endParaRPr>
          </a:p>
        </p:txBody>
      </p:sp>
      <p:pic>
        <p:nvPicPr>
          <p:cNvPr descr="preencoded.png" id="56" name="Google Shape;56;p3"/>
          <p:cNvPicPr preferRelativeResize="0"/>
          <p:nvPr/>
        </p:nvPicPr>
        <p:blipFill rotWithShape="1">
          <a:blip r:embed="rId6">
            <a:alphaModFix/>
          </a:blip>
          <a:srcRect b="0" l="0" r="0" t="0"/>
          <a:stretch/>
        </p:blipFill>
        <p:spPr>
          <a:xfrm>
            <a:off x="0" y="762000"/>
            <a:ext cx="12191999" cy="476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pic>
        <p:nvPicPr>
          <p:cNvPr descr="preencoded.png" id="61" name="Google Shape;61;g3a78f71d699_1_4"/>
          <p:cNvPicPr preferRelativeResize="0"/>
          <p:nvPr/>
        </p:nvPicPr>
        <p:blipFill rotWithShape="1">
          <a:blip r:embed="rId3">
            <a:alphaModFix/>
          </a:blip>
          <a:srcRect b="0" l="0" r="0" t="0"/>
          <a:stretch/>
        </p:blipFill>
        <p:spPr>
          <a:xfrm>
            <a:off x="0" y="0"/>
            <a:ext cx="12192002" cy="762000"/>
          </a:xfrm>
          <a:prstGeom prst="rect">
            <a:avLst/>
          </a:prstGeom>
          <a:noFill/>
          <a:ln>
            <a:noFill/>
          </a:ln>
        </p:spPr>
      </p:pic>
      <p:pic>
        <p:nvPicPr>
          <p:cNvPr id="62" name="Google Shape;62;g3a78f71d699_1_4"/>
          <p:cNvPicPr preferRelativeResize="0"/>
          <p:nvPr/>
        </p:nvPicPr>
        <p:blipFill rotWithShape="1">
          <a:blip r:embed="rId4">
            <a:alphaModFix/>
          </a:blip>
          <a:srcRect b="0" l="0" r="0" t="0"/>
          <a:stretch/>
        </p:blipFill>
        <p:spPr>
          <a:xfrm>
            <a:off x="8451658" y="0"/>
            <a:ext cx="3740341" cy="762039"/>
          </a:xfrm>
          <a:prstGeom prst="rect">
            <a:avLst/>
          </a:prstGeom>
          <a:noFill/>
          <a:ln>
            <a:noFill/>
          </a:ln>
        </p:spPr>
      </p:pic>
      <p:sp>
        <p:nvSpPr>
          <p:cNvPr id="63" name="Google Shape;63;g3a78f71d699_1_4"/>
          <p:cNvSpPr/>
          <p:nvPr/>
        </p:nvSpPr>
        <p:spPr>
          <a:xfrm>
            <a:off x="381000" y="209550"/>
            <a:ext cx="7589400" cy="342900"/>
          </a:xfrm>
          <a:prstGeom prst="rect">
            <a:avLst/>
          </a:prstGeom>
          <a:noFill/>
          <a:ln>
            <a:noFill/>
          </a:ln>
        </p:spPr>
        <p:txBody>
          <a:bodyPr anchorCtr="0" anchor="t" bIns="0" lIns="0" spcFirstLastPara="1" rIns="0" wrap="square" tIns="0">
            <a:noAutofit/>
          </a:bodyPr>
          <a:lstStyle/>
          <a:p>
            <a:pPr indent="0" lvl="0" marL="0" rtl="0" algn="l">
              <a:lnSpc>
                <a:spcPct val="120000"/>
              </a:lnSpc>
              <a:spcBef>
                <a:spcPts val="0"/>
              </a:spcBef>
              <a:spcAft>
                <a:spcPts val="0"/>
              </a:spcAft>
              <a:buClr>
                <a:schemeClr val="lt1"/>
              </a:buClr>
              <a:buSzPts val="2250"/>
              <a:buFont typeface="Arial"/>
              <a:buNone/>
            </a:pPr>
            <a:r>
              <a:rPr b="1" lang="en-US" sz="2250">
                <a:solidFill>
                  <a:schemeClr val="lt1"/>
                </a:solidFill>
              </a:rPr>
              <a:t>The Proposed Solution - Diagrams</a:t>
            </a:r>
            <a:endParaRPr sz="225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FFFFFF"/>
              </a:buClr>
              <a:buSzPts val="2250"/>
              <a:buFont typeface="Arial"/>
              <a:buNone/>
            </a:pPr>
            <a:r>
              <a:t/>
            </a:r>
            <a:endParaRPr b="1" sz="2250">
              <a:solidFill>
                <a:srgbClr val="FFFFFF"/>
              </a:solidFill>
            </a:endParaRPr>
          </a:p>
        </p:txBody>
      </p:sp>
      <p:sp>
        <p:nvSpPr>
          <p:cNvPr id="64" name="Google Shape;64;g3a78f71d699_1_4"/>
          <p:cNvSpPr txBox="1"/>
          <p:nvPr/>
        </p:nvSpPr>
        <p:spPr>
          <a:xfrm>
            <a:off x="8692125" y="1020550"/>
            <a:ext cx="1614900" cy="49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b="1" sz="2000"/>
          </a:p>
        </p:txBody>
      </p:sp>
      <p:pic>
        <p:nvPicPr>
          <p:cNvPr id="65" name="Google Shape;65;g3a78f71d699_1_4" title="use-case-diagram.png"/>
          <p:cNvPicPr preferRelativeResize="0"/>
          <p:nvPr/>
        </p:nvPicPr>
        <p:blipFill rotWithShape="1">
          <a:blip r:embed="rId5">
            <a:alphaModFix/>
          </a:blip>
          <a:srcRect b="-1610" l="-1584" r="0" t="-1620"/>
          <a:stretch/>
        </p:blipFill>
        <p:spPr>
          <a:xfrm>
            <a:off x="0" y="914050"/>
            <a:ext cx="4888000" cy="5709649"/>
          </a:xfrm>
          <a:prstGeom prst="rect">
            <a:avLst/>
          </a:prstGeom>
          <a:noFill/>
          <a:ln>
            <a:noFill/>
          </a:ln>
        </p:spPr>
      </p:pic>
      <p:pic>
        <p:nvPicPr>
          <p:cNvPr id="66" name="Google Shape;66;g3a78f71d699_1_4" title="workflow-diagram.png"/>
          <p:cNvPicPr preferRelativeResize="0"/>
          <p:nvPr/>
        </p:nvPicPr>
        <p:blipFill>
          <a:blip r:embed="rId6">
            <a:alphaModFix/>
          </a:blip>
          <a:stretch>
            <a:fillRect/>
          </a:stretch>
        </p:blipFill>
        <p:spPr>
          <a:xfrm>
            <a:off x="4888000" y="1148350"/>
            <a:ext cx="7304003" cy="54753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pic>
        <p:nvPicPr>
          <p:cNvPr descr="preencoded.png" id="72" name="Google Shape;72;p4"/>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preencoded.png" id="73" name="Google Shape;73;p4"/>
          <p:cNvPicPr preferRelativeResize="0"/>
          <p:nvPr/>
        </p:nvPicPr>
        <p:blipFill rotWithShape="1">
          <a:blip r:embed="rId4">
            <a:alphaModFix/>
          </a:blip>
          <a:srcRect b="0" l="0" r="0" t="0"/>
          <a:stretch/>
        </p:blipFill>
        <p:spPr>
          <a:xfrm>
            <a:off x="0" y="0"/>
            <a:ext cx="12192000" cy="762000"/>
          </a:xfrm>
          <a:prstGeom prst="rect">
            <a:avLst/>
          </a:prstGeom>
          <a:noFill/>
          <a:ln>
            <a:noFill/>
          </a:ln>
        </p:spPr>
      </p:pic>
      <p:sp>
        <p:nvSpPr>
          <p:cNvPr id="74" name="Google Shape;74;p4"/>
          <p:cNvSpPr/>
          <p:nvPr/>
        </p:nvSpPr>
        <p:spPr>
          <a:xfrm>
            <a:off x="381000" y="209550"/>
            <a:ext cx="6324600" cy="3429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FFFFF"/>
              </a:buClr>
              <a:buSzPts val="2250"/>
              <a:buFont typeface="Arial"/>
              <a:buNone/>
            </a:pPr>
            <a:r>
              <a:rPr b="1" lang="en-US" sz="2250">
                <a:solidFill>
                  <a:srgbClr val="FFFFFF"/>
                </a:solidFill>
                <a:latin typeface="Arial"/>
                <a:ea typeface="Arial"/>
                <a:cs typeface="Arial"/>
                <a:sym typeface="Arial"/>
              </a:rPr>
              <a:t>Target Audience</a:t>
            </a:r>
            <a:endParaRPr sz="2250">
              <a:solidFill>
                <a:schemeClr val="dk1"/>
              </a:solidFill>
              <a:latin typeface="Calibri"/>
              <a:ea typeface="Calibri"/>
              <a:cs typeface="Calibri"/>
              <a:sym typeface="Calibri"/>
            </a:endParaRPr>
          </a:p>
        </p:txBody>
      </p:sp>
      <p:pic>
        <p:nvPicPr>
          <p:cNvPr id="75" name="Google Shape;75;p4"/>
          <p:cNvPicPr preferRelativeResize="0"/>
          <p:nvPr/>
        </p:nvPicPr>
        <p:blipFill rotWithShape="1">
          <a:blip r:embed="rId5">
            <a:alphaModFix/>
          </a:blip>
          <a:srcRect b="0" l="0" r="0" t="0"/>
          <a:stretch/>
        </p:blipFill>
        <p:spPr>
          <a:xfrm>
            <a:off x="8451658" y="0"/>
            <a:ext cx="3740342" cy="762039"/>
          </a:xfrm>
          <a:prstGeom prst="rect">
            <a:avLst/>
          </a:prstGeom>
          <a:noFill/>
          <a:ln>
            <a:noFill/>
          </a:ln>
        </p:spPr>
      </p:pic>
      <p:sp>
        <p:nvSpPr>
          <p:cNvPr id="76" name="Google Shape;76;p4"/>
          <p:cNvSpPr/>
          <p:nvPr/>
        </p:nvSpPr>
        <p:spPr>
          <a:xfrm>
            <a:off x="297525" y="1311875"/>
            <a:ext cx="10826100" cy="22146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400"/>
              </a:spcBef>
              <a:spcAft>
                <a:spcPts val="0"/>
              </a:spcAft>
              <a:buNone/>
            </a:pPr>
            <a:r>
              <a:rPr b="1" lang="en-US">
                <a:solidFill>
                  <a:schemeClr val="dk1"/>
                </a:solidFill>
              </a:rPr>
              <a:t>Primary User Persona</a:t>
            </a:r>
            <a:endParaRPr b="1">
              <a:solidFill>
                <a:schemeClr val="dk1"/>
              </a:solidFill>
            </a:endParaRPr>
          </a:p>
          <a:p>
            <a:pPr indent="0" lvl="0" marL="0" rtl="0" algn="l">
              <a:lnSpc>
                <a:spcPct val="142857"/>
              </a:lnSpc>
              <a:spcBef>
                <a:spcPts val="1000"/>
              </a:spcBef>
              <a:spcAft>
                <a:spcPts val="0"/>
              </a:spcAft>
              <a:buNone/>
            </a:pPr>
            <a:r>
              <a:rPr b="1" lang="en-US">
                <a:solidFill>
                  <a:srgbClr val="1A1C1E"/>
                </a:solidFill>
                <a:highlight>
                  <a:srgbClr val="FFFFFF"/>
                </a:highlight>
                <a:latin typeface="Times New Roman"/>
                <a:ea typeface="Times New Roman"/>
                <a:cs typeface="Times New Roman"/>
                <a:sym typeface="Times New Roman"/>
              </a:rPr>
              <a:t>The "Overwhelmed" Chief Marketing Officer (CMO | CEO)</a:t>
            </a:r>
            <a:r>
              <a:rPr lang="en-US">
                <a:solidFill>
                  <a:srgbClr val="1A1C1E"/>
                </a:solidFill>
                <a:highlight>
                  <a:srgbClr val="FFFFFF"/>
                </a:highlight>
                <a:latin typeface="Times New Roman"/>
                <a:ea typeface="Times New Roman"/>
                <a:cs typeface="Times New Roman"/>
                <a:sym typeface="Times New Roman"/>
              </a:rPr>
              <a:t> of an SME or a scaling E-commerce Brand.</a:t>
            </a:r>
            <a:endParaRPr>
              <a:solidFill>
                <a:schemeClr val="dk1"/>
              </a:solidFill>
              <a:latin typeface="Times New Roman"/>
              <a:ea typeface="Times New Roman"/>
              <a:cs typeface="Times New Roman"/>
              <a:sym typeface="Times New Roman"/>
            </a:endParaRPr>
          </a:p>
          <a:p>
            <a:pPr indent="0" lvl="0" marL="0" rtl="0" algn="l">
              <a:lnSpc>
                <a:spcPct val="115000"/>
              </a:lnSpc>
              <a:spcBef>
                <a:spcPts val="1400"/>
              </a:spcBef>
              <a:spcAft>
                <a:spcPts val="0"/>
              </a:spcAft>
              <a:buNone/>
            </a:pPr>
            <a:r>
              <a:rPr b="1" lang="en-US">
                <a:solidFill>
                  <a:schemeClr val="dk1"/>
                </a:solidFill>
              </a:rPr>
              <a:t>User Characteristics</a:t>
            </a:r>
            <a:endParaRPr b="1">
              <a:solidFill>
                <a:schemeClr val="dk1"/>
              </a:solidFill>
            </a:endParaRPr>
          </a:p>
          <a:p>
            <a:pPr indent="-317500" lvl="0" marL="457200" rtl="0" algn="l">
              <a:lnSpc>
                <a:spcPct val="142857"/>
              </a:lnSpc>
              <a:spcBef>
                <a:spcPts val="1000"/>
              </a:spcBef>
              <a:spcAft>
                <a:spcPts val="0"/>
              </a:spcAft>
              <a:buClr>
                <a:srgbClr val="1A1C1E"/>
              </a:buClr>
              <a:buSzPts val="1400"/>
              <a:buFont typeface="Inter"/>
              <a:buChar char="●"/>
            </a:pPr>
            <a:r>
              <a:rPr b="1" lang="en-US">
                <a:solidFill>
                  <a:srgbClr val="1A1C1E"/>
                </a:solidFill>
                <a:highlight>
                  <a:srgbClr val="FFFFFF"/>
                </a:highlight>
                <a:latin typeface="Times New Roman"/>
                <a:ea typeface="Times New Roman"/>
                <a:cs typeface="Times New Roman"/>
                <a:sym typeface="Times New Roman"/>
              </a:rPr>
              <a:t>Context:</a:t>
            </a:r>
            <a:r>
              <a:rPr lang="en-US">
                <a:solidFill>
                  <a:srgbClr val="1A1C1E"/>
                </a:solidFill>
                <a:highlight>
                  <a:srgbClr val="FFFFFF"/>
                </a:highlight>
                <a:latin typeface="Times New Roman"/>
                <a:ea typeface="Times New Roman"/>
                <a:cs typeface="Times New Roman"/>
                <a:sym typeface="Times New Roman"/>
              </a:rPr>
              <a:t> Manages multiple channels (Meta, X, TikTok) with a small or non-existent team.</a:t>
            </a:r>
            <a:endParaRPr>
              <a:solidFill>
                <a:srgbClr val="1A1C1E"/>
              </a:solidFill>
              <a:highlight>
                <a:srgbClr val="FFFFFF"/>
              </a:highlight>
              <a:latin typeface="Times New Roman"/>
              <a:ea typeface="Times New Roman"/>
              <a:cs typeface="Times New Roman"/>
              <a:sym typeface="Times New Roman"/>
            </a:endParaRPr>
          </a:p>
          <a:p>
            <a:pPr indent="-317500" lvl="0" marL="457200" rtl="0" algn="l">
              <a:lnSpc>
                <a:spcPct val="142857"/>
              </a:lnSpc>
              <a:spcBef>
                <a:spcPts val="0"/>
              </a:spcBef>
              <a:spcAft>
                <a:spcPts val="0"/>
              </a:spcAft>
              <a:buClr>
                <a:srgbClr val="1A1C1E"/>
              </a:buClr>
              <a:buSzPts val="1400"/>
              <a:buFont typeface="Inter"/>
              <a:buChar char="●"/>
            </a:pPr>
            <a:r>
              <a:rPr b="1" lang="en-US">
                <a:solidFill>
                  <a:srgbClr val="1A1C1E"/>
                </a:solidFill>
                <a:highlight>
                  <a:srgbClr val="FFFFFF"/>
                </a:highlight>
                <a:latin typeface="Times New Roman"/>
                <a:ea typeface="Times New Roman"/>
                <a:cs typeface="Times New Roman"/>
                <a:sym typeface="Times New Roman"/>
              </a:rPr>
              <a:t>Goals:</a:t>
            </a:r>
            <a:r>
              <a:rPr lang="en-US">
                <a:solidFill>
                  <a:srgbClr val="1A1C1E"/>
                </a:solidFill>
                <a:highlight>
                  <a:srgbClr val="FFFFFF"/>
                </a:highlight>
                <a:latin typeface="Times New Roman"/>
                <a:ea typeface="Times New Roman"/>
                <a:cs typeface="Times New Roman"/>
                <a:sym typeface="Times New Roman"/>
              </a:rPr>
              <a:t> Wants to establish "Thought Leadership" and drive revenue without spending hours on manual execution.</a:t>
            </a:r>
            <a:endParaRPr>
              <a:solidFill>
                <a:srgbClr val="1A1C1E"/>
              </a:solidFill>
              <a:highlight>
                <a:srgbClr val="FFFFFF"/>
              </a:highlight>
              <a:latin typeface="Times New Roman"/>
              <a:ea typeface="Times New Roman"/>
              <a:cs typeface="Times New Roman"/>
              <a:sym typeface="Times New Roman"/>
            </a:endParaRPr>
          </a:p>
          <a:p>
            <a:pPr indent="-317500" lvl="0" marL="457200" rtl="0" algn="l">
              <a:lnSpc>
                <a:spcPct val="142857"/>
              </a:lnSpc>
              <a:spcBef>
                <a:spcPts val="0"/>
              </a:spcBef>
              <a:spcAft>
                <a:spcPts val="0"/>
              </a:spcAft>
              <a:buClr>
                <a:srgbClr val="1A1C1E"/>
              </a:buClr>
              <a:buSzPts val="1400"/>
              <a:buFont typeface="Inter"/>
              <a:buChar char="●"/>
            </a:pPr>
            <a:r>
              <a:rPr b="1" lang="en-US">
                <a:solidFill>
                  <a:srgbClr val="1A1C1E"/>
                </a:solidFill>
                <a:highlight>
                  <a:srgbClr val="FFFFFF"/>
                </a:highlight>
                <a:latin typeface="Times New Roman"/>
                <a:ea typeface="Times New Roman"/>
                <a:cs typeface="Times New Roman"/>
                <a:sym typeface="Times New Roman"/>
              </a:rPr>
              <a:t>Pain Point:</a:t>
            </a:r>
            <a:r>
              <a:rPr lang="en-US">
                <a:solidFill>
                  <a:srgbClr val="1A1C1E"/>
                </a:solidFill>
                <a:highlight>
                  <a:srgbClr val="FFFFFF"/>
                </a:highlight>
                <a:latin typeface="Times New Roman"/>
                <a:ea typeface="Times New Roman"/>
                <a:cs typeface="Times New Roman"/>
                <a:sym typeface="Times New Roman"/>
              </a:rPr>
              <a:t> Struggles to maintain a consistent "Big Brand" presence due to resource limitations.</a:t>
            </a:r>
            <a:endParaRPr>
              <a:solidFill>
                <a:schemeClr val="dk1"/>
              </a:solidFill>
              <a:latin typeface="Times New Roman"/>
              <a:ea typeface="Times New Roman"/>
              <a:cs typeface="Times New Roman"/>
              <a:sym typeface="Times New Roman"/>
            </a:endParaRPr>
          </a:p>
          <a:p>
            <a:pPr indent="0" lvl="0" marL="0" rtl="0" algn="l">
              <a:lnSpc>
                <a:spcPct val="115000"/>
              </a:lnSpc>
              <a:spcBef>
                <a:spcPts val="1400"/>
              </a:spcBef>
              <a:spcAft>
                <a:spcPts val="0"/>
              </a:spcAft>
              <a:buNone/>
            </a:pPr>
            <a:r>
              <a:rPr b="1" lang="en-US">
                <a:solidFill>
                  <a:schemeClr val="dk1"/>
                </a:solidFill>
              </a:rPr>
              <a:t>The Need</a:t>
            </a:r>
            <a:endParaRPr b="1">
              <a:solidFill>
                <a:schemeClr val="dk1"/>
              </a:solidFill>
            </a:endParaRPr>
          </a:p>
          <a:p>
            <a:pPr indent="0" lvl="0" marL="0" rtl="0" algn="ctr">
              <a:lnSpc>
                <a:spcPct val="115000"/>
              </a:lnSpc>
              <a:spcBef>
                <a:spcPts val="1400"/>
              </a:spcBef>
              <a:spcAft>
                <a:spcPts val="0"/>
              </a:spcAft>
              <a:buNone/>
            </a:pPr>
            <a:r>
              <a:rPr lang="en-US" sz="1500">
                <a:solidFill>
                  <a:srgbClr val="1A1C1E"/>
                </a:solidFill>
                <a:latin typeface="Times New Roman"/>
                <a:ea typeface="Times New Roman"/>
                <a:cs typeface="Times New Roman"/>
                <a:sym typeface="Times New Roman"/>
              </a:rPr>
              <a:t>This audience needs </a:t>
            </a:r>
            <a:r>
              <a:rPr b="1" lang="en-US" sz="1500">
                <a:solidFill>
                  <a:srgbClr val="1A1C1E"/>
                </a:solidFill>
                <a:latin typeface="Times New Roman"/>
                <a:ea typeface="Times New Roman"/>
                <a:cs typeface="Times New Roman"/>
                <a:sym typeface="Times New Roman"/>
              </a:rPr>
              <a:t>autonomy, not just automation.</a:t>
            </a:r>
            <a:r>
              <a:rPr lang="en-US" sz="1500">
                <a:solidFill>
                  <a:srgbClr val="1A1C1E"/>
                </a:solidFill>
                <a:latin typeface="Times New Roman"/>
                <a:ea typeface="Times New Roman"/>
                <a:cs typeface="Times New Roman"/>
                <a:sym typeface="Times New Roman"/>
              </a:rPr>
              <a:t> They do not need another tool that waits for instructions; they need a system that can take a high-level goal (e.g., "Increase Q4 sales") and autonomously execute the necessary content strategy, ensuring visual ("Business DNA") and tonal consistency without constant human hand-holding.</a:t>
            </a:r>
            <a:endParaRPr sz="1500">
              <a:solidFill>
                <a:schemeClr val="dk1"/>
              </a:solidFill>
              <a:latin typeface="Times New Roman"/>
              <a:ea typeface="Times New Roman"/>
              <a:cs typeface="Times New Roman"/>
              <a:sym typeface="Times New Roman"/>
            </a:endParaRPr>
          </a:p>
          <a:p>
            <a:pPr indent="0" lvl="0" marL="0" rtl="0" algn="l">
              <a:lnSpc>
                <a:spcPct val="115000"/>
              </a:lnSpc>
              <a:spcBef>
                <a:spcPts val="1400"/>
              </a:spcBef>
              <a:spcAft>
                <a:spcPts val="0"/>
              </a:spcAft>
              <a:buClr>
                <a:schemeClr val="dk1"/>
              </a:buClr>
              <a:buSzPts val="1100"/>
              <a:buFont typeface="Arial"/>
              <a:buNone/>
            </a:pPr>
            <a:r>
              <a:t/>
            </a:r>
            <a:endParaRPr sz="1300">
              <a:solidFill>
                <a:schemeClr val="dk1"/>
              </a:solidFill>
            </a:endParaRPr>
          </a:p>
          <a:p>
            <a:pPr indent="0" lvl="0" marL="0" rtl="0" algn="l">
              <a:lnSpc>
                <a:spcPct val="115000"/>
              </a:lnSpc>
              <a:spcBef>
                <a:spcPts val="1400"/>
              </a:spcBef>
              <a:spcAft>
                <a:spcPts val="0"/>
              </a:spcAft>
              <a:buNone/>
            </a:pPr>
            <a:r>
              <a:t/>
            </a:r>
            <a:endParaRPr sz="1300">
              <a:solidFill>
                <a:schemeClr val="dk1"/>
              </a:solidFill>
            </a:endParaRPr>
          </a:p>
          <a:p>
            <a:pPr indent="0" lvl="0" marL="0" marR="0" rtl="0" algn="l">
              <a:spcBef>
                <a:spcPts val="400"/>
              </a:spcBef>
              <a:spcAft>
                <a:spcPts val="0"/>
              </a:spcAft>
              <a:buNone/>
            </a:pPr>
            <a:r>
              <a:t/>
            </a:r>
            <a:endParaRPr b="1" sz="1800">
              <a:solidFill>
                <a:srgbClr val="FF0000"/>
              </a:solidFill>
            </a:endParaRPr>
          </a:p>
        </p:txBody>
      </p:sp>
      <p:pic>
        <p:nvPicPr>
          <p:cNvPr descr="preencoded.png" id="77" name="Google Shape;77;p4"/>
          <p:cNvPicPr preferRelativeResize="0"/>
          <p:nvPr/>
        </p:nvPicPr>
        <p:blipFill rotWithShape="1">
          <a:blip r:embed="rId6">
            <a:alphaModFix/>
          </a:blip>
          <a:srcRect b="0" l="0" r="0" t="0"/>
          <a:stretch/>
        </p:blipFill>
        <p:spPr>
          <a:xfrm>
            <a:off x="0" y="762000"/>
            <a:ext cx="12192000" cy="476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pic>
        <p:nvPicPr>
          <p:cNvPr descr="preencoded.png" id="83" name="Google Shape;83;p5"/>
          <p:cNvPicPr preferRelativeResize="0"/>
          <p:nvPr/>
        </p:nvPicPr>
        <p:blipFill rotWithShape="1">
          <a:blip r:embed="rId3">
            <a:alphaModFix/>
          </a:blip>
          <a:srcRect b="0" l="0" r="0" t="0"/>
          <a:stretch/>
        </p:blipFill>
        <p:spPr>
          <a:xfrm>
            <a:off x="-85725" y="-69227"/>
            <a:ext cx="12192000" cy="6858000"/>
          </a:xfrm>
          <a:prstGeom prst="rect">
            <a:avLst/>
          </a:prstGeom>
          <a:noFill/>
          <a:ln>
            <a:noFill/>
          </a:ln>
        </p:spPr>
      </p:pic>
      <p:pic>
        <p:nvPicPr>
          <p:cNvPr descr="preencoded.png" id="84" name="Google Shape;84;p5"/>
          <p:cNvPicPr preferRelativeResize="0"/>
          <p:nvPr/>
        </p:nvPicPr>
        <p:blipFill rotWithShape="1">
          <a:blip r:embed="rId4">
            <a:alphaModFix/>
          </a:blip>
          <a:srcRect b="0" l="0" r="0" t="0"/>
          <a:stretch/>
        </p:blipFill>
        <p:spPr>
          <a:xfrm>
            <a:off x="0" y="0"/>
            <a:ext cx="12192000" cy="762000"/>
          </a:xfrm>
          <a:prstGeom prst="rect">
            <a:avLst/>
          </a:prstGeom>
          <a:noFill/>
          <a:ln>
            <a:noFill/>
          </a:ln>
        </p:spPr>
      </p:pic>
      <p:pic>
        <p:nvPicPr>
          <p:cNvPr descr="preencoded.png" id="85" name="Google Shape;85;p5"/>
          <p:cNvPicPr preferRelativeResize="0"/>
          <p:nvPr/>
        </p:nvPicPr>
        <p:blipFill rotWithShape="1">
          <a:blip r:embed="rId5">
            <a:alphaModFix/>
          </a:blip>
          <a:srcRect b="0" l="0" r="0" t="0"/>
          <a:stretch/>
        </p:blipFill>
        <p:spPr>
          <a:xfrm>
            <a:off x="381000" y="1569959"/>
            <a:ext cx="11430000" cy="514350"/>
          </a:xfrm>
          <a:prstGeom prst="rect">
            <a:avLst/>
          </a:prstGeom>
          <a:noFill/>
          <a:ln>
            <a:noFill/>
          </a:ln>
        </p:spPr>
      </p:pic>
      <p:pic>
        <p:nvPicPr>
          <p:cNvPr descr="preencoded.png" id="86" name="Google Shape;86;p5"/>
          <p:cNvPicPr preferRelativeResize="0"/>
          <p:nvPr/>
        </p:nvPicPr>
        <p:blipFill rotWithShape="1">
          <a:blip r:embed="rId6">
            <a:alphaModFix/>
          </a:blip>
          <a:srcRect b="0" l="0" r="0" t="0"/>
          <a:stretch/>
        </p:blipFill>
        <p:spPr>
          <a:xfrm>
            <a:off x="381000" y="1569952"/>
            <a:ext cx="2406250" cy="360650"/>
          </a:xfrm>
          <a:prstGeom prst="rect">
            <a:avLst/>
          </a:prstGeom>
          <a:noFill/>
          <a:ln>
            <a:noFill/>
          </a:ln>
        </p:spPr>
      </p:pic>
      <p:pic>
        <p:nvPicPr>
          <p:cNvPr descr="preencoded.png" id="87" name="Google Shape;87;p5"/>
          <p:cNvPicPr preferRelativeResize="0"/>
          <p:nvPr/>
        </p:nvPicPr>
        <p:blipFill rotWithShape="1">
          <a:blip r:embed="rId7">
            <a:alphaModFix/>
          </a:blip>
          <a:srcRect b="0" l="0" r="0" t="0"/>
          <a:stretch/>
        </p:blipFill>
        <p:spPr>
          <a:xfrm>
            <a:off x="2787250" y="1569952"/>
            <a:ext cx="3007824" cy="360650"/>
          </a:xfrm>
          <a:prstGeom prst="rect">
            <a:avLst/>
          </a:prstGeom>
          <a:noFill/>
          <a:ln>
            <a:noFill/>
          </a:ln>
        </p:spPr>
      </p:pic>
      <p:pic>
        <p:nvPicPr>
          <p:cNvPr descr="preencoded.png" id="88" name="Google Shape;88;p5"/>
          <p:cNvPicPr preferRelativeResize="0"/>
          <p:nvPr/>
        </p:nvPicPr>
        <p:blipFill rotWithShape="1">
          <a:blip r:embed="rId7">
            <a:alphaModFix/>
          </a:blip>
          <a:srcRect b="0" l="0" r="0" t="0"/>
          <a:stretch/>
        </p:blipFill>
        <p:spPr>
          <a:xfrm>
            <a:off x="5795075" y="1569953"/>
            <a:ext cx="3007800" cy="360650"/>
          </a:xfrm>
          <a:prstGeom prst="rect">
            <a:avLst/>
          </a:prstGeom>
          <a:noFill/>
          <a:ln>
            <a:noFill/>
          </a:ln>
        </p:spPr>
      </p:pic>
      <p:pic>
        <p:nvPicPr>
          <p:cNvPr descr="preencoded.png" id="89" name="Google Shape;89;p5"/>
          <p:cNvPicPr preferRelativeResize="0"/>
          <p:nvPr/>
        </p:nvPicPr>
        <p:blipFill rotWithShape="1">
          <a:blip r:embed="rId7">
            <a:alphaModFix/>
          </a:blip>
          <a:srcRect b="0" l="0" r="0" t="0"/>
          <a:stretch/>
        </p:blipFill>
        <p:spPr>
          <a:xfrm>
            <a:off x="8802875" y="1569953"/>
            <a:ext cx="3008124" cy="360650"/>
          </a:xfrm>
          <a:prstGeom prst="rect">
            <a:avLst/>
          </a:prstGeom>
          <a:noFill/>
          <a:ln>
            <a:noFill/>
          </a:ln>
        </p:spPr>
      </p:pic>
      <p:pic>
        <p:nvPicPr>
          <p:cNvPr descr="preencoded.png" id="90" name="Google Shape;90;p5"/>
          <p:cNvPicPr preferRelativeResize="0"/>
          <p:nvPr/>
        </p:nvPicPr>
        <p:blipFill rotWithShape="1">
          <a:blip r:embed="rId8">
            <a:alphaModFix/>
          </a:blip>
          <a:srcRect b="0" l="0" r="0" t="0"/>
          <a:stretch/>
        </p:blipFill>
        <p:spPr>
          <a:xfrm>
            <a:off x="381000" y="2084309"/>
            <a:ext cx="11430000" cy="457200"/>
          </a:xfrm>
          <a:prstGeom prst="rect">
            <a:avLst/>
          </a:prstGeom>
          <a:noFill/>
          <a:ln>
            <a:noFill/>
          </a:ln>
        </p:spPr>
      </p:pic>
      <p:pic>
        <p:nvPicPr>
          <p:cNvPr descr="preencoded.png" id="91" name="Google Shape;91;p5"/>
          <p:cNvPicPr preferRelativeResize="0"/>
          <p:nvPr/>
        </p:nvPicPr>
        <p:blipFill rotWithShape="1">
          <a:blip r:embed="rId9">
            <a:alphaModFix/>
          </a:blip>
          <a:srcRect b="0" l="0" r="0" t="0"/>
          <a:stretch/>
        </p:blipFill>
        <p:spPr>
          <a:xfrm>
            <a:off x="381000" y="2084309"/>
            <a:ext cx="2406253" cy="457200"/>
          </a:xfrm>
          <a:prstGeom prst="rect">
            <a:avLst/>
          </a:prstGeom>
          <a:noFill/>
          <a:ln>
            <a:noFill/>
          </a:ln>
        </p:spPr>
      </p:pic>
      <p:pic>
        <p:nvPicPr>
          <p:cNvPr descr="preencoded.png" id="92" name="Google Shape;92;p5"/>
          <p:cNvPicPr preferRelativeResize="0"/>
          <p:nvPr/>
        </p:nvPicPr>
        <p:blipFill rotWithShape="1">
          <a:blip r:embed="rId10">
            <a:alphaModFix/>
          </a:blip>
          <a:srcRect b="0" l="0" r="0" t="0"/>
          <a:stretch/>
        </p:blipFill>
        <p:spPr>
          <a:xfrm>
            <a:off x="2787253" y="2084309"/>
            <a:ext cx="3007816" cy="457200"/>
          </a:xfrm>
          <a:prstGeom prst="rect">
            <a:avLst/>
          </a:prstGeom>
          <a:noFill/>
          <a:ln>
            <a:noFill/>
          </a:ln>
        </p:spPr>
      </p:pic>
      <p:pic>
        <p:nvPicPr>
          <p:cNvPr descr="preencoded.png" id="93" name="Google Shape;93;p5"/>
          <p:cNvPicPr preferRelativeResize="0"/>
          <p:nvPr/>
        </p:nvPicPr>
        <p:blipFill rotWithShape="1">
          <a:blip r:embed="rId11">
            <a:alphaModFix/>
          </a:blip>
          <a:srcRect b="0" l="0" r="0" t="0"/>
          <a:stretch/>
        </p:blipFill>
        <p:spPr>
          <a:xfrm>
            <a:off x="5795070" y="2084309"/>
            <a:ext cx="3007816" cy="457200"/>
          </a:xfrm>
          <a:prstGeom prst="rect">
            <a:avLst/>
          </a:prstGeom>
          <a:noFill/>
          <a:ln>
            <a:noFill/>
          </a:ln>
        </p:spPr>
      </p:pic>
      <p:pic>
        <p:nvPicPr>
          <p:cNvPr descr="preencoded.png" id="94" name="Google Shape;94;p5"/>
          <p:cNvPicPr preferRelativeResize="0"/>
          <p:nvPr/>
        </p:nvPicPr>
        <p:blipFill rotWithShape="1">
          <a:blip r:embed="rId11">
            <a:alphaModFix/>
          </a:blip>
          <a:srcRect b="0" l="0" r="0" t="0"/>
          <a:stretch/>
        </p:blipFill>
        <p:spPr>
          <a:xfrm>
            <a:off x="8802886" y="2084309"/>
            <a:ext cx="3008114" cy="457200"/>
          </a:xfrm>
          <a:prstGeom prst="rect">
            <a:avLst/>
          </a:prstGeom>
          <a:noFill/>
          <a:ln>
            <a:noFill/>
          </a:ln>
        </p:spPr>
      </p:pic>
      <p:pic>
        <p:nvPicPr>
          <p:cNvPr descr="preencoded.png" id="95" name="Google Shape;95;p5"/>
          <p:cNvPicPr preferRelativeResize="0"/>
          <p:nvPr/>
        </p:nvPicPr>
        <p:blipFill rotWithShape="1">
          <a:blip r:embed="rId12">
            <a:alphaModFix/>
          </a:blip>
          <a:srcRect b="0" l="0" r="0" t="0"/>
          <a:stretch/>
        </p:blipFill>
        <p:spPr>
          <a:xfrm>
            <a:off x="381000" y="2541509"/>
            <a:ext cx="11430000" cy="457200"/>
          </a:xfrm>
          <a:prstGeom prst="rect">
            <a:avLst/>
          </a:prstGeom>
          <a:noFill/>
          <a:ln>
            <a:noFill/>
          </a:ln>
        </p:spPr>
      </p:pic>
      <p:pic>
        <p:nvPicPr>
          <p:cNvPr descr="preencoded.png" id="96" name="Google Shape;96;p5"/>
          <p:cNvPicPr preferRelativeResize="0"/>
          <p:nvPr/>
        </p:nvPicPr>
        <p:blipFill rotWithShape="1">
          <a:blip r:embed="rId9">
            <a:alphaModFix/>
          </a:blip>
          <a:srcRect b="0" l="0" r="0" t="0"/>
          <a:stretch/>
        </p:blipFill>
        <p:spPr>
          <a:xfrm>
            <a:off x="381000" y="2541509"/>
            <a:ext cx="2406253" cy="457200"/>
          </a:xfrm>
          <a:prstGeom prst="rect">
            <a:avLst/>
          </a:prstGeom>
          <a:noFill/>
          <a:ln>
            <a:noFill/>
          </a:ln>
        </p:spPr>
      </p:pic>
      <p:pic>
        <p:nvPicPr>
          <p:cNvPr descr="preencoded.png" id="97" name="Google Shape;97;p5"/>
          <p:cNvPicPr preferRelativeResize="0"/>
          <p:nvPr/>
        </p:nvPicPr>
        <p:blipFill rotWithShape="1">
          <a:blip r:embed="rId10">
            <a:alphaModFix/>
          </a:blip>
          <a:srcRect b="0" l="0" r="0" t="0"/>
          <a:stretch/>
        </p:blipFill>
        <p:spPr>
          <a:xfrm>
            <a:off x="2787253" y="2541509"/>
            <a:ext cx="3007816" cy="457200"/>
          </a:xfrm>
          <a:prstGeom prst="rect">
            <a:avLst/>
          </a:prstGeom>
          <a:noFill/>
          <a:ln>
            <a:noFill/>
          </a:ln>
        </p:spPr>
      </p:pic>
      <p:pic>
        <p:nvPicPr>
          <p:cNvPr descr="preencoded.png" id="98" name="Google Shape;98;p5"/>
          <p:cNvPicPr preferRelativeResize="0"/>
          <p:nvPr/>
        </p:nvPicPr>
        <p:blipFill rotWithShape="1">
          <a:blip r:embed="rId11">
            <a:alphaModFix/>
          </a:blip>
          <a:srcRect b="0" l="0" r="0" t="0"/>
          <a:stretch/>
        </p:blipFill>
        <p:spPr>
          <a:xfrm>
            <a:off x="5795070" y="2541509"/>
            <a:ext cx="3007816" cy="457200"/>
          </a:xfrm>
          <a:prstGeom prst="rect">
            <a:avLst/>
          </a:prstGeom>
          <a:noFill/>
          <a:ln>
            <a:noFill/>
          </a:ln>
        </p:spPr>
      </p:pic>
      <p:pic>
        <p:nvPicPr>
          <p:cNvPr descr="preencoded.png" id="99" name="Google Shape;99;p5"/>
          <p:cNvPicPr preferRelativeResize="0"/>
          <p:nvPr/>
        </p:nvPicPr>
        <p:blipFill rotWithShape="1">
          <a:blip r:embed="rId11">
            <a:alphaModFix/>
          </a:blip>
          <a:srcRect b="0" l="0" r="0" t="0"/>
          <a:stretch/>
        </p:blipFill>
        <p:spPr>
          <a:xfrm>
            <a:off x="8802886" y="2541509"/>
            <a:ext cx="3008114" cy="457200"/>
          </a:xfrm>
          <a:prstGeom prst="rect">
            <a:avLst/>
          </a:prstGeom>
          <a:noFill/>
          <a:ln>
            <a:noFill/>
          </a:ln>
        </p:spPr>
      </p:pic>
      <p:pic>
        <p:nvPicPr>
          <p:cNvPr descr="preencoded.png" id="100" name="Google Shape;100;p5"/>
          <p:cNvPicPr preferRelativeResize="0"/>
          <p:nvPr/>
        </p:nvPicPr>
        <p:blipFill rotWithShape="1">
          <a:blip r:embed="rId13">
            <a:alphaModFix/>
          </a:blip>
          <a:srcRect b="0" l="0" r="0" t="0"/>
          <a:stretch/>
        </p:blipFill>
        <p:spPr>
          <a:xfrm>
            <a:off x="381000" y="2998709"/>
            <a:ext cx="11430000" cy="457200"/>
          </a:xfrm>
          <a:prstGeom prst="rect">
            <a:avLst/>
          </a:prstGeom>
          <a:noFill/>
          <a:ln>
            <a:noFill/>
          </a:ln>
        </p:spPr>
      </p:pic>
      <p:pic>
        <p:nvPicPr>
          <p:cNvPr descr="preencoded.png" id="101" name="Google Shape;101;p5"/>
          <p:cNvPicPr preferRelativeResize="0"/>
          <p:nvPr/>
        </p:nvPicPr>
        <p:blipFill rotWithShape="1">
          <a:blip r:embed="rId9">
            <a:alphaModFix/>
          </a:blip>
          <a:srcRect b="0" l="0" r="0" t="0"/>
          <a:stretch/>
        </p:blipFill>
        <p:spPr>
          <a:xfrm>
            <a:off x="381000" y="2998709"/>
            <a:ext cx="2406253" cy="457200"/>
          </a:xfrm>
          <a:prstGeom prst="rect">
            <a:avLst/>
          </a:prstGeom>
          <a:noFill/>
          <a:ln>
            <a:noFill/>
          </a:ln>
        </p:spPr>
      </p:pic>
      <p:pic>
        <p:nvPicPr>
          <p:cNvPr descr="preencoded.png" id="102" name="Google Shape;102;p5"/>
          <p:cNvPicPr preferRelativeResize="0"/>
          <p:nvPr/>
        </p:nvPicPr>
        <p:blipFill rotWithShape="1">
          <a:blip r:embed="rId10">
            <a:alphaModFix/>
          </a:blip>
          <a:srcRect b="0" l="0" r="0" t="0"/>
          <a:stretch/>
        </p:blipFill>
        <p:spPr>
          <a:xfrm>
            <a:off x="2787253" y="2998709"/>
            <a:ext cx="3007816" cy="457200"/>
          </a:xfrm>
          <a:prstGeom prst="rect">
            <a:avLst/>
          </a:prstGeom>
          <a:noFill/>
          <a:ln>
            <a:noFill/>
          </a:ln>
        </p:spPr>
      </p:pic>
      <p:pic>
        <p:nvPicPr>
          <p:cNvPr descr="preencoded.png" id="103" name="Google Shape;103;p5"/>
          <p:cNvPicPr preferRelativeResize="0"/>
          <p:nvPr/>
        </p:nvPicPr>
        <p:blipFill rotWithShape="1">
          <a:blip r:embed="rId11">
            <a:alphaModFix/>
          </a:blip>
          <a:srcRect b="0" l="0" r="0" t="0"/>
          <a:stretch/>
        </p:blipFill>
        <p:spPr>
          <a:xfrm>
            <a:off x="5795070" y="2998709"/>
            <a:ext cx="3007816" cy="457200"/>
          </a:xfrm>
          <a:prstGeom prst="rect">
            <a:avLst/>
          </a:prstGeom>
          <a:noFill/>
          <a:ln>
            <a:noFill/>
          </a:ln>
        </p:spPr>
      </p:pic>
      <p:pic>
        <p:nvPicPr>
          <p:cNvPr descr="preencoded.png" id="104" name="Google Shape;104;p5"/>
          <p:cNvPicPr preferRelativeResize="0"/>
          <p:nvPr/>
        </p:nvPicPr>
        <p:blipFill rotWithShape="1">
          <a:blip r:embed="rId11">
            <a:alphaModFix/>
          </a:blip>
          <a:srcRect b="0" l="0" r="0" t="0"/>
          <a:stretch/>
        </p:blipFill>
        <p:spPr>
          <a:xfrm>
            <a:off x="8802886" y="2998709"/>
            <a:ext cx="3008114" cy="457200"/>
          </a:xfrm>
          <a:prstGeom prst="rect">
            <a:avLst/>
          </a:prstGeom>
          <a:noFill/>
          <a:ln>
            <a:noFill/>
          </a:ln>
        </p:spPr>
      </p:pic>
      <p:pic>
        <p:nvPicPr>
          <p:cNvPr descr="preencoded.png" id="105" name="Google Shape;105;p5"/>
          <p:cNvPicPr preferRelativeResize="0"/>
          <p:nvPr/>
        </p:nvPicPr>
        <p:blipFill rotWithShape="1">
          <a:blip r:embed="rId12">
            <a:alphaModFix/>
          </a:blip>
          <a:srcRect b="0" l="0" r="0" t="0"/>
          <a:stretch/>
        </p:blipFill>
        <p:spPr>
          <a:xfrm>
            <a:off x="381000" y="3455909"/>
            <a:ext cx="11430000" cy="457200"/>
          </a:xfrm>
          <a:prstGeom prst="rect">
            <a:avLst/>
          </a:prstGeom>
          <a:noFill/>
          <a:ln>
            <a:noFill/>
          </a:ln>
        </p:spPr>
      </p:pic>
      <p:pic>
        <p:nvPicPr>
          <p:cNvPr descr="preencoded.png" id="106" name="Google Shape;106;p5"/>
          <p:cNvPicPr preferRelativeResize="0"/>
          <p:nvPr/>
        </p:nvPicPr>
        <p:blipFill rotWithShape="1">
          <a:blip r:embed="rId9">
            <a:alphaModFix/>
          </a:blip>
          <a:srcRect b="0" l="0" r="0" t="0"/>
          <a:stretch/>
        </p:blipFill>
        <p:spPr>
          <a:xfrm>
            <a:off x="381000" y="3455909"/>
            <a:ext cx="2406253" cy="457200"/>
          </a:xfrm>
          <a:prstGeom prst="rect">
            <a:avLst/>
          </a:prstGeom>
          <a:noFill/>
          <a:ln>
            <a:noFill/>
          </a:ln>
        </p:spPr>
      </p:pic>
      <p:pic>
        <p:nvPicPr>
          <p:cNvPr descr="preencoded.png" id="107" name="Google Shape;107;p5"/>
          <p:cNvPicPr preferRelativeResize="0"/>
          <p:nvPr/>
        </p:nvPicPr>
        <p:blipFill rotWithShape="1">
          <a:blip r:embed="rId10">
            <a:alphaModFix/>
          </a:blip>
          <a:srcRect b="0" l="0" r="0" t="0"/>
          <a:stretch/>
        </p:blipFill>
        <p:spPr>
          <a:xfrm>
            <a:off x="2787253" y="3455909"/>
            <a:ext cx="3007816" cy="457200"/>
          </a:xfrm>
          <a:prstGeom prst="rect">
            <a:avLst/>
          </a:prstGeom>
          <a:noFill/>
          <a:ln>
            <a:noFill/>
          </a:ln>
        </p:spPr>
      </p:pic>
      <p:pic>
        <p:nvPicPr>
          <p:cNvPr descr="preencoded.png" id="108" name="Google Shape;108;p5"/>
          <p:cNvPicPr preferRelativeResize="0"/>
          <p:nvPr/>
        </p:nvPicPr>
        <p:blipFill rotWithShape="1">
          <a:blip r:embed="rId11">
            <a:alphaModFix/>
          </a:blip>
          <a:srcRect b="0" l="0" r="0" t="0"/>
          <a:stretch/>
        </p:blipFill>
        <p:spPr>
          <a:xfrm>
            <a:off x="5795070" y="3455909"/>
            <a:ext cx="3007816" cy="457200"/>
          </a:xfrm>
          <a:prstGeom prst="rect">
            <a:avLst/>
          </a:prstGeom>
          <a:noFill/>
          <a:ln>
            <a:noFill/>
          </a:ln>
        </p:spPr>
      </p:pic>
      <p:pic>
        <p:nvPicPr>
          <p:cNvPr descr="preencoded.png" id="109" name="Google Shape;109;p5"/>
          <p:cNvPicPr preferRelativeResize="0"/>
          <p:nvPr/>
        </p:nvPicPr>
        <p:blipFill rotWithShape="1">
          <a:blip r:embed="rId11">
            <a:alphaModFix/>
          </a:blip>
          <a:srcRect b="0" l="0" r="0" t="0"/>
          <a:stretch/>
        </p:blipFill>
        <p:spPr>
          <a:xfrm>
            <a:off x="8802886" y="3455909"/>
            <a:ext cx="3008114" cy="457200"/>
          </a:xfrm>
          <a:prstGeom prst="rect">
            <a:avLst/>
          </a:prstGeom>
          <a:noFill/>
          <a:ln>
            <a:noFill/>
          </a:ln>
        </p:spPr>
      </p:pic>
      <p:pic>
        <p:nvPicPr>
          <p:cNvPr descr="preencoded.png" id="110" name="Google Shape;110;p5"/>
          <p:cNvPicPr preferRelativeResize="0"/>
          <p:nvPr/>
        </p:nvPicPr>
        <p:blipFill rotWithShape="1">
          <a:blip r:embed="rId14">
            <a:alphaModFix/>
          </a:blip>
          <a:srcRect b="0" l="0" r="0" t="0"/>
          <a:stretch/>
        </p:blipFill>
        <p:spPr>
          <a:xfrm>
            <a:off x="381000" y="4256009"/>
            <a:ext cx="219075" cy="190500"/>
          </a:xfrm>
          <a:prstGeom prst="rect">
            <a:avLst/>
          </a:prstGeom>
          <a:noFill/>
          <a:ln>
            <a:noFill/>
          </a:ln>
        </p:spPr>
      </p:pic>
      <p:sp>
        <p:nvSpPr>
          <p:cNvPr id="111" name="Google Shape;111;p5"/>
          <p:cNvSpPr/>
          <p:nvPr/>
        </p:nvSpPr>
        <p:spPr>
          <a:xfrm>
            <a:off x="381000" y="209550"/>
            <a:ext cx="7589520" cy="3429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FFFFF"/>
              </a:buClr>
              <a:buSzPts val="2250"/>
              <a:buFont typeface="Arial"/>
              <a:buNone/>
            </a:pPr>
            <a:r>
              <a:rPr b="1" lang="en-US" sz="2250">
                <a:solidFill>
                  <a:srgbClr val="FFFFFF"/>
                </a:solidFill>
                <a:latin typeface="Arial"/>
                <a:ea typeface="Arial"/>
                <a:cs typeface="Arial"/>
                <a:sym typeface="Arial"/>
              </a:rPr>
              <a:t>Competitive Analysis</a:t>
            </a:r>
            <a:endParaRPr sz="2250">
              <a:solidFill>
                <a:schemeClr val="dk1"/>
              </a:solidFill>
              <a:latin typeface="Calibri"/>
              <a:ea typeface="Calibri"/>
              <a:cs typeface="Calibri"/>
              <a:sym typeface="Calibri"/>
            </a:endParaRPr>
          </a:p>
        </p:txBody>
      </p:sp>
      <p:sp>
        <p:nvSpPr>
          <p:cNvPr id="112" name="Google Shape;112;p5"/>
          <p:cNvSpPr/>
          <p:nvPr/>
        </p:nvSpPr>
        <p:spPr>
          <a:xfrm>
            <a:off x="381000" y="952500"/>
            <a:ext cx="8781854" cy="342900"/>
          </a:xfrm>
          <a:prstGeom prst="rect">
            <a:avLst/>
          </a:prstGeom>
          <a:noFill/>
          <a:ln>
            <a:noFill/>
          </a:ln>
        </p:spPr>
        <p:txBody>
          <a:bodyPr anchorCtr="0" anchor="t" bIns="0" lIns="0" spcFirstLastPara="1" rIns="0" wrap="square" tIns="0">
            <a:noAutofit/>
          </a:bodyPr>
          <a:lstStyle/>
          <a:p>
            <a:pPr indent="0" lvl="0" marL="0" rtl="0" algn="l">
              <a:lnSpc>
                <a:spcPct val="150000"/>
              </a:lnSpc>
              <a:spcBef>
                <a:spcPts val="0"/>
              </a:spcBef>
              <a:spcAft>
                <a:spcPts val="0"/>
              </a:spcAft>
              <a:buNone/>
            </a:pPr>
            <a:r>
              <a:t/>
            </a:r>
            <a:endParaRPr b="1">
              <a:solidFill>
                <a:srgbClr val="FF0000"/>
              </a:solidFill>
              <a:latin typeface="Calibri"/>
              <a:ea typeface="Calibri"/>
              <a:cs typeface="Calibri"/>
              <a:sym typeface="Calibri"/>
            </a:endParaRPr>
          </a:p>
          <a:p>
            <a:pPr indent="0" lvl="0" marL="0" marR="0" rtl="0" algn="l">
              <a:lnSpc>
                <a:spcPct val="150000"/>
              </a:lnSpc>
              <a:spcBef>
                <a:spcPts val="0"/>
              </a:spcBef>
              <a:spcAft>
                <a:spcPts val="0"/>
              </a:spcAft>
              <a:buNone/>
            </a:pPr>
            <a:r>
              <a:t/>
            </a:r>
            <a:endParaRPr b="1" sz="1400">
              <a:solidFill>
                <a:srgbClr val="FF0000"/>
              </a:solidFill>
              <a:latin typeface="Calibri"/>
              <a:ea typeface="Calibri"/>
              <a:cs typeface="Calibri"/>
              <a:sym typeface="Calibri"/>
            </a:endParaRPr>
          </a:p>
        </p:txBody>
      </p:sp>
      <p:sp>
        <p:nvSpPr>
          <p:cNvPr id="113" name="Google Shape;113;p5"/>
          <p:cNvSpPr/>
          <p:nvPr/>
        </p:nvSpPr>
        <p:spPr>
          <a:xfrm>
            <a:off x="381000" y="1569949"/>
            <a:ext cx="2406300" cy="342900"/>
          </a:xfrm>
          <a:prstGeom prst="rect">
            <a:avLst/>
          </a:prstGeom>
          <a:noFill/>
          <a:ln>
            <a:noFill/>
          </a:ln>
        </p:spPr>
        <p:txBody>
          <a:bodyPr anchorCtr="0" anchor="ctr" bIns="0" lIns="0" spcFirstLastPara="1" rIns="0" wrap="square" tIns="0">
            <a:noAutofit/>
          </a:bodyPr>
          <a:lstStyle/>
          <a:p>
            <a:pPr indent="0" lvl="0" marL="0" marR="0" rtl="0" algn="ctr">
              <a:lnSpc>
                <a:spcPct val="150000"/>
              </a:lnSpc>
              <a:spcBef>
                <a:spcPts val="0"/>
              </a:spcBef>
              <a:spcAft>
                <a:spcPts val="0"/>
              </a:spcAft>
              <a:buClr>
                <a:srgbClr val="FFFFFF"/>
              </a:buClr>
              <a:buSzPts val="1200"/>
              <a:buFont typeface="Arial"/>
              <a:buNone/>
            </a:pPr>
            <a:r>
              <a:rPr b="1" lang="en-US" sz="1200">
                <a:solidFill>
                  <a:srgbClr val="FFFFFF"/>
                </a:solidFill>
                <a:latin typeface="Arial"/>
                <a:ea typeface="Arial"/>
                <a:cs typeface="Arial"/>
                <a:sym typeface="Arial"/>
              </a:rPr>
              <a:t>Feature</a:t>
            </a:r>
            <a:endParaRPr sz="1200">
              <a:solidFill>
                <a:schemeClr val="dk1"/>
              </a:solidFill>
              <a:latin typeface="Calibri"/>
              <a:ea typeface="Calibri"/>
              <a:cs typeface="Calibri"/>
              <a:sym typeface="Calibri"/>
            </a:endParaRPr>
          </a:p>
        </p:txBody>
      </p:sp>
      <p:sp>
        <p:nvSpPr>
          <p:cNvPr id="114" name="Google Shape;114;p5"/>
          <p:cNvSpPr/>
          <p:nvPr/>
        </p:nvSpPr>
        <p:spPr>
          <a:xfrm>
            <a:off x="2787250" y="1569949"/>
            <a:ext cx="3007800" cy="342900"/>
          </a:xfrm>
          <a:prstGeom prst="rect">
            <a:avLst/>
          </a:prstGeom>
          <a:noFill/>
          <a:ln>
            <a:noFill/>
          </a:ln>
        </p:spPr>
        <p:txBody>
          <a:bodyPr anchorCtr="0" anchor="ctr" bIns="0" lIns="0" spcFirstLastPara="1" rIns="0" wrap="square" tIns="0">
            <a:noAutofit/>
          </a:bodyPr>
          <a:lstStyle/>
          <a:p>
            <a:pPr indent="0" lvl="0" marL="0" marR="0" rtl="0" algn="ctr">
              <a:lnSpc>
                <a:spcPct val="150000"/>
              </a:lnSpc>
              <a:spcBef>
                <a:spcPts val="0"/>
              </a:spcBef>
              <a:spcAft>
                <a:spcPts val="0"/>
              </a:spcAft>
              <a:buClr>
                <a:srgbClr val="FFFFFF"/>
              </a:buClr>
              <a:buSzPts val="1200"/>
              <a:buFont typeface="Arial"/>
              <a:buNone/>
            </a:pPr>
            <a:r>
              <a:rPr b="1" lang="en-US" sz="1200">
                <a:solidFill>
                  <a:schemeClr val="lt1"/>
                </a:solidFill>
              </a:rPr>
              <a:t>Pulse (Our Solution)</a:t>
            </a:r>
            <a:endParaRPr sz="1200">
              <a:solidFill>
                <a:schemeClr val="lt1"/>
              </a:solidFill>
            </a:endParaRPr>
          </a:p>
        </p:txBody>
      </p:sp>
      <p:sp>
        <p:nvSpPr>
          <p:cNvPr id="115" name="Google Shape;115;p5"/>
          <p:cNvSpPr/>
          <p:nvPr/>
        </p:nvSpPr>
        <p:spPr>
          <a:xfrm>
            <a:off x="5795075" y="1569950"/>
            <a:ext cx="3007800" cy="360600"/>
          </a:xfrm>
          <a:prstGeom prst="rect">
            <a:avLst/>
          </a:prstGeom>
          <a:noFill/>
          <a:ln>
            <a:noFill/>
          </a:ln>
        </p:spPr>
        <p:txBody>
          <a:bodyPr anchorCtr="0" anchor="ctr" bIns="0" lIns="0" spcFirstLastPara="1" rIns="0" wrap="square" tIns="0">
            <a:noAutofit/>
          </a:bodyPr>
          <a:lstStyle/>
          <a:p>
            <a:pPr indent="0" lvl="0" marL="0" marR="0" rtl="0" algn="ctr">
              <a:lnSpc>
                <a:spcPct val="150000"/>
              </a:lnSpc>
              <a:spcBef>
                <a:spcPts val="0"/>
              </a:spcBef>
              <a:spcAft>
                <a:spcPts val="0"/>
              </a:spcAft>
              <a:buClr>
                <a:srgbClr val="FFFFFF"/>
              </a:buClr>
              <a:buSzPts val="1200"/>
              <a:buFont typeface="Arial"/>
              <a:buNone/>
            </a:pPr>
            <a:r>
              <a:rPr b="1" lang="en-US" sz="1200">
                <a:solidFill>
                  <a:schemeClr val="lt1"/>
                </a:solidFill>
              </a:rPr>
              <a:t>Waxwing AI</a:t>
            </a:r>
            <a:endParaRPr sz="1200">
              <a:solidFill>
                <a:schemeClr val="lt1"/>
              </a:solidFill>
            </a:endParaRPr>
          </a:p>
        </p:txBody>
      </p:sp>
      <p:sp>
        <p:nvSpPr>
          <p:cNvPr id="116" name="Google Shape;116;p5"/>
          <p:cNvSpPr/>
          <p:nvPr/>
        </p:nvSpPr>
        <p:spPr>
          <a:xfrm>
            <a:off x="8802875" y="1569949"/>
            <a:ext cx="3008100" cy="342900"/>
          </a:xfrm>
          <a:prstGeom prst="rect">
            <a:avLst/>
          </a:prstGeom>
          <a:noFill/>
          <a:ln>
            <a:noFill/>
          </a:ln>
        </p:spPr>
        <p:txBody>
          <a:bodyPr anchorCtr="0" anchor="ctr" bIns="0" lIns="0" spcFirstLastPara="1" rIns="0" wrap="square" tIns="0">
            <a:noAutofit/>
          </a:bodyPr>
          <a:lstStyle/>
          <a:p>
            <a:pPr indent="0" lvl="0" marL="0" marR="0" rtl="0" algn="ctr">
              <a:lnSpc>
                <a:spcPct val="150000"/>
              </a:lnSpc>
              <a:spcBef>
                <a:spcPts val="0"/>
              </a:spcBef>
              <a:spcAft>
                <a:spcPts val="0"/>
              </a:spcAft>
              <a:buClr>
                <a:srgbClr val="FFFFFF"/>
              </a:buClr>
              <a:buSzPts val="1200"/>
              <a:buFont typeface="Arial"/>
              <a:buNone/>
            </a:pPr>
            <a:r>
              <a:rPr b="1" lang="en-US" sz="1200">
                <a:solidFill>
                  <a:schemeClr val="lt1"/>
                </a:solidFill>
              </a:rPr>
              <a:t>Make (formerly Integromat)</a:t>
            </a:r>
            <a:endParaRPr sz="1200">
              <a:solidFill>
                <a:schemeClr val="lt1"/>
              </a:solidFill>
            </a:endParaRPr>
          </a:p>
        </p:txBody>
      </p:sp>
      <p:sp>
        <p:nvSpPr>
          <p:cNvPr id="117" name="Google Shape;117;p5"/>
          <p:cNvSpPr/>
          <p:nvPr/>
        </p:nvSpPr>
        <p:spPr>
          <a:xfrm>
            <a:off x="523875" y="2084309"/>
            <a:ext cx="2887504" cy="4572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000000"/>
              </a:buClr>
              <a:buSzPts val="1200"/>
              <a:buFont typeface="Arial"/>
              <a:buNone/>
            </a:pPr>
            <a:r>
              <a:rPr b="1" lang="en-US" sz="1200">
                <a:solidFill>
                  <a:srgbClr val="000000"/>
                </a:solidFill>
                <a:latin typeface="Arial"/>
                <a:ea typeface="Arial"/>
                <a:cs typeface="Arial"/>
                <a:sym typeface="Arial"/>
              </a:rPr>
              <a:t>Core Technology</a:t>
            </a:r>
            <a:endParaRPr sz="1200">
              <a:solidFill>
                <a:schemeClr val="dk1"/>
              </a:solidFill>
              <a:latin typeface="Calibri"/>
              <a:ea typeface="Calibri"/>
              <a:cs typeface="Calibri"/>
              <a:sym typeface="Calibri"/>
            </a:endParaRPr>
          </a:p>
        </p:txBody>
      </p:sp>
      <p:sp>
        <p:nvSpPr>
          <p:cNvPr id="118" name="Google Shape;118;p5"/>
          <p:cNvSpPr/>
          <p:nvPr/>
        </p:nvSpPr>
        <p:spPr>
          <a:xfrm>
            <a:off x="2858691" y="2084309"/>
            <a:ext cx="30078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lang="en-US" sz="1050">
                <a:solidFill>
                  <a:srgbClr val="1A1C1E"/>
                </a:solidFill>
                <a:latin typeface="Inter"/>
                <a:ea typeface="Inter"/>
                <a:cs typeface="Inter"/>
                <a:sym typeface="Inter"/>
              </a:rPr>
              <a:t>Multi-Agent Cognitive System</a:t>
            </a:r>
            <a:r>
              <a:rPr lang="en-US" sz="1050">
                <a:solidFill>
                  <a:srgbClr val="1A1C1E"/>
                </a:solidFill>
                <a:latin typeface="Inter"/>
                <a:ea typeface="Inter"/>
                <a:cs typeface="Inter"/>
                <a:sym typeface="Inter"/>
              </a:rPr>
              <a:t> (Strategy + Execution)</a:t>
            </a:r>
            <a:endParaRPr sz="1100">
              <a:solidFill>
                <a:schemeClr val="dk1"/>
              </a:solidFill>
            </a:endParaRPr>
          </a:p>
          <a:p>
            <a:pPr indent="0" lvl="0" marL="0" marR="0" rtl="0" algn="l">
              <a:lnSpc>
                <a:spcPct val="150000"/>
              </a:lnSpc>
              <a:spcBef>
                <a:spcPts val="0"/>
              </a:spcBef>
              <a:spcAft>
                <a:spcPts val="0"/>
              </a:spcAft>
              <a:buClr>
                <a:srgbClr val="000000"/>
              </a:buClr>
              <a:buSzPts val="1200"/>
              <a:buFont typeface="Arial"/>
              <a:buNone/>
            </a:pPr>
            <a:r>
              <a:t/>
            </a:r>
            <a:endParaRPr sz="1200"/>
          </a:p>
          <a:p>
            <a:pPr indent="0" lvl="0" marL="0" marR="0" rtl="0" algn="l">
              <a:lnSpc>
                <a:spcPct val="150000"/>
              </a:lnSpc>
              <a:spcBef>
                <a:spcPts val="0"/>
              </a:spcBef>
              <a:spcAft>
                <a:spcPts val="0"/>
              </a:spcAft>
              <a:buClr>
                <a:srgbClr val="000000"/>
              </a:buClr>
              <a:buSzPts val="1200"/>
              <a:buFont typeface="Arial"/>
              <a:buNone/>
            </a:pPr>
            <a:r>
              <a:t/>
            </a:r>
            <a:endParaRPr sz="1200"/>
          </a:p>
          <a:p>
            <a:pPr indent="0" lvl="0" marL="0" marR="0" rtl="0" algn="l">
              <a:lnSpc>
                <a:spcPct val="150000"/>
              </a:lnSpc>
              <a:spcBef>
                <a:spcPts val="0"/>
              </a:spcBef>
              <a:spcAft>
                <a:spcPts val="0"/>
              </a:spcAft>
              <a:buClr>
                <a:srgbClr val="000000"/>
              </a:buClr>
              <a:buSzPts val="1200"/>
              <a:buFont typeface="Arial"/>
              <a:buNone/>
            </a:pPr>
            <a:r>
              <a:t/>
            </a:r>
            <a:endParaRPr sz="1200"/>
          </a:p>
        </p:txBody>
      </p:sp>
      <p:sp>
        <p:nvSpPr>
          <p:cNvPr id="119" name="Google Shape;119;p5"/>
          <p:cNvSpPr/>
          <p:nvPr/>
        </p:nvSpPr>
        <p:spPr>
          <a:xfrm>
            <a:off x="5937945" y="2084309"/>
            <a:ext cx="3007816"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lang="en-US" sz="1050">
                <a:solidFill>
                  <a:srgbClr val="1A1C1E"/>
                </a:solidFill>
                <a:latin typeface="Inter"/>
                <a:ea typeface="Inter"/>
                <a:cs typeface="Inter"/>
                <a:sym typeface="Inter"/>
              </a:rPr>
              <a:t>AI Strategy Planning &amp; Project Management</a:t>
            </a:r>
            <a:endParaRPr sz="1100"/>
          </a:p>
          <a:p>
            <a:pPr indent="0" lvl="0" marL="0" marR="0" rtl="0" algn="l">
              <a:lnSpc>
                <a:spcPct val="150000"/>
              </a:lnSpc>
              <a:spcBef>
                <a:spcPts val="0"/>
              </a:spcBef>
              <a:spcAft>
                <a:spcPts val="0"/>
              </a:spcAft>
              <a:buClr>
                <a:srgbClr val="000000"/>
              </a:buClr>
              <a:buSzPts val="1200"/>
              <a:buFont typeface="Arial"/>
              <a:buNone/>
            </a:pPr>
            <a:r>
              <a:t/>
            </a:r>
            <a:endParaRPr sz="1200"/>
          </a:p>
        </p:txBody>
      </p:sp>
      <p:sp>
        <p:nvSpPr>
          <p:cNvPr id="120" name="Google Shape;120;p5"/>
          <p:cNvSpPr/>
          <p:nvPr/>
        </p:nvSpPr>
        <p:spPr>
          <a:xfrm>
            <a:off x="8945761" y="2084309"/>
            <a:ext cx="3008114" cy="4572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000000"/>
              </a:buClr>
              <a:buSzPts val="1200"/>
              <a:buFont typeface="Arial"/>
              <a:buNone/>
            </a:pPr>
            <a:r>
              <a:rPr lang="en-US" sz="1050">
                <a:solidFill>
                  <a:srgbClr val="1A1C1E"/>
                </a:solidFill>
                <a:latin typeface="Inter"/>
                <a:ea typeface="Inter"/>
                <a:cs typeface="Inter"/>
                <a:sym typeface="Inter"/>
              </a:rPr>
              <a:t>Workflow Automation (iPaaS) / Logic flows</a:t>
            </a:r>
            <a:endParaRPr sz="1100"/>
          </a:p>
          <a:p>
            <a:pPr indent="0" lvl="0" marL="0" marR="0" rtl="0" algn="l">
              <a:lnSpc>
                <a:spcPct val="150000"/>
              </a:lnSpc>
              <a:spcBef>
                <a:spcPts val="0"/>
              </a:spcBef>
              <a:spcAft>
                <a:spcPts val="0"/>
              </a:spcAft>
              <a:buClr>
                <a:srgbClr val="000000"/>
              </a:buClr>
              <a:buSzPts val="1200"/>
              <a:buFont typeface="Arial"/>
              <a:buNone/>
            </a:pPr>
            <a:r>
              <a:t/>
            </a:r>
            <a:endParaRPr sz="1200"/>
          </a:p>
        </p:txBody>
      </p:sp>
      <p:sp>
        <p:nvSpPr>
          <p:cNvPr id="121" name="Google Shape;121;p5"/>
          <p:cNvSpPr/>
          <p:nvPr/>
        </p:nvSpPr>
        <p:spPr>
          <a:xfrm>
            <a:off x="523875" y="2541509"/>
            <a:ext cx="2887500" cy="4572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000000"/>
              </a:buClr>
              <a:buSzPts val="1200"/>
              <a:buFont typeface="Arial"/>
              <a:buNone/>
            </a:pPr>
            <a:r>
              <a:rPr b="1" lang="en-US" sz="1200">
                <a:solidFill>
                  <a:srgbClr val="000000"/>
                </a:solidFill>
                <a:latin typeface="Arial"/>
                <a:ea typeface="Arial"/>
                <a:cs typeface="Arial"/>
                <a:sym typeface="Arial"/>
              </a:rPr>
              <a:t>User Experience</a:t>
            </a:r>
            <a:endParaRPr sz="1200">
              <a:solidFill>
                <a:schemeClr val="dk1"/>
              </a:solidFill>
              <a:latin typeface="Calibri"/>
              <a:ea typeface="Calibri"/>
              <a:cs typeface="Calibri"/>
              <a:sym typeface="Calibri"/>
            </a:endParaRPr>
          </a:p>
        </p:txBody>
      </p:sp>
      <p:sp>
        <p:nvSpPr>
          <p:cNvPr id="122" name="Google Shape;122;p5"/>
          <p:cNvSpPr/>
          <p:nvPr/>
        </p:nvSpPr>
        <p:spPr>
          <a:xfrm>
            <a:off x="2858700" y="2541500"/>
            <a:ext cx="30792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lang="en-US" sz="1050">
                <a:solidFill>
                  <a:srgbClr val="1A1C1E"/>
                </a:solidFill>
                <a:latin typeface="Inter"/>
                <a:ea typeface="Inter"/>
                <a:cs typeface="Inter"/>
                <a:sym typeface="Inter"/>
              </a:rPr>
              <a:t>Goal-Oriented:</a:t>
            </a:r>
            <a:r>
              <a:rPr lang="en-US" sz="1050">
                <a:solidFill>
                  <a:srgbClr val="1A1C1E"/>
                </a:solidFill>
                <a:latin typeface="Inter"/>
                <a:ea typeface="Inter"/>
                <a:cs typeface="Inter"/>
                <a:sym typeface="Inter"/>
              </a:rPr>
              <a:t> "Make me famous" -&gt; System figures out the "How"</a:t>
            </a:r>
            <a:endParaRPr sz="1100">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200"/>
              <a:buFont typeface="Arial"/>
              <a:buNone/>
            </a:pPr>
            <a:r>
              <a:t/>
            </a:r>
            <a:endParaRPr sz="1200">
              <a:solidFill>
                <a:schemeClr val="dk1"/>
              </a:solidFill>
              <a:latin typeface="Calibri"/>
              <a:ea typeface="Calibri"/>
              <a:cs typeface="Calibri"/>
              <a:sym typeface="Calibri"/>
            </a:endParaRPr>
          </a:p>
        </p:txBody>
      </p:sp>
      <p:sp>
        <p:nvSpPr>
          <p:cNvPr id="123" name="Google Shape;123;p5"/>
          <p:cNvSpPr/>
          <p:nvPr/>
        </p:nvSpPr>
        <p:spPr>
          <a:xfrm>
            <a:off x="5902225" y="2541500"/>
            <a:ext cx="3007800" cy="4572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000000"/>
              </a:buClr>
              <a:buSzPts val="1200"/>
              <a:buFont typeface="Arial"/>
              <a:buNone/>
            </a:pPr>
            <a:r>
              <a:rPr b="1" lang="en-US" sz="1050">
                <a:solidFill>
                  <a:srgbClr val="1A1C1E"/>
                </a:solidFill>
                <a:latin typeface="Inter"/>
                <a:ea typeface="Inter"/>
                <a:cs typeface="Inter"/>
                <a:sym typeface="Inter"/>
              </a:rPr>
              <a:t>Task-Oriented:</a:t>
            </a:r>
            <a:r>
              <a:rPr lang="en-US" sz="1050">
                <a:solidFill>
                  <a:srgbClr val="1A1C1E"/>
                </a:solidFill>
                <a:latin typeface="Inter"/>
                <a:ea typeface="Inter"/>
                <a:cs typeface="Inter"/>
                <a:sym typeface="Inter"/>
              </a:rPr>
              <a:t> Guided planning and breakdowns</a:t>
            </a:r>
            <a:endParaRPr sz="1200"/>
          </a:p>
          <a:p>
            <a:pPr indent="0" lvl="0" marL="0" marR="0" rtl="0" algn="l">
              <a:lnSpc>
                <a:spcPct val="150000"/>
              </a:lnSpc>
              <a:spcBef>
                <a:spcPts val="0"/>
              </a:spcBef>
              <a:spcAft>
                <a:spcPts val="0"/>
              </a:spcAft>
              <a:buClr>
                <a:srgbClr val="000000"/>
              </a:buClr>
              <a:buSzPts val="1200"/>
              <a:buFont typeface="Arial"/>
              <a:buNone/>
            </a:pPr>
            <a:r>
              <a:t/>
            </a:r>
            <a:endParaRPr sz="1200"/>
          </a:p>
        </p:txBody>
      </p:sp>
      <p:sp>
        <p:nvSpPr>
          <p:cNvPr id="124" name="Google Shape;124;p5"/>
          <p:cNvSpPr/>
          <p:nvPr/>
        </p:nvSpPr>
        <p:spPr>
          <a:xfrm>
            <a:off x="8945761" y="2541509"/>
            <a:ext cx="3008114"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lang="en-US" sz="1050">
                <a:solidFill>
                  <a:srgbClr val="1A1C1E"/>
                </a:solidFill>
                <a:latin typeface="Inter"/>
                <a:ea typeface="Inter"/>
                <a:cs typeface="Inter"/>
                <a:sym typeface="Inter"/>
              </a:rPr>
              <a:t>Builder-Oriented:</a:t>
            </a:r>
            <a:r>
              <a:rPr lang="en-US" sz="1050">
                <a:solidFill>
                  <a:srgbClr val="1A1C1E"/>
                </a:solidFill>
                <a:latin typeface="Inter"/>
                <a:ea typeface="Inter"/>
                <a:cs typeface="Inter"/>
                <a:sym typeface="Inter"/>
              </a:rPr>
              <a:t> Drag-and-drop logic construction</a:t>
            </a:r>
            <a:endParaRPr sz="1100"/>
          </a:p>
          <a:p>
            <a:pPr indent="0" lvl="0" marL="0" marR="0" rtl="0" algn="l">
              <a:lnSpc>
                <a:spcPct val="150000"/>
              </a:lnSpc>
              <a:spcBef>
                <a:spcPts val="0"/>
              </a:spcBef>
              <a:spcAft>
                <a:spcPts val="0"/>
              </a:spcAft>
              <a:buClr>
                <a:srgbClr val="000000"/>
              </a:buClr>
              <a:buSzPts val="1200"/>
              <a:buFont typeface="Arial"/>
              <a:buNone/>
            </a:pPr>
            <a:r>
              <a:t/>
            </a:r>
            <a:endParaRPr sz="1200"/>
          </a:p>
        </p:txBody>
      </p:sp>
      <p:sp>
        <p:nvSpPr>
          <p:cNvPr id="125" name="Google Shape;125;p5"/>
          <p:cNvSpPr/>
          <p:nvPr/>
        </p:nvSpPr>
        <p:spPr>
          <a:xfrm>
            <a:off x="523875" y="2998709"/>
            <a:ext cx="2887504" cy="4572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000000"/>
              </a:buClr>
              <a:buSzPts val="1200"/>
              <a:buFont typeface="Arial"/>
              <a:buNone/>
            </a:pPr>
            <a:r>
              <a:rPr b="1" lang="en-US" sz="1200">
                <a:solidFill>
                  <a:srgbClr val="000000"/>
                </a:solidFill>
                <a:latin typeface="Arial"/>
                <a:ea typeface="Arial"/>
                <a:cs typeface="Arial"/>
                <a:sym typeface="Arial"/>
              </a:rPr>
              <a:t>Integration Capability</a:t>
            </a:r>
            <a:endParaRPr sz="1200">
              <a:solidFill>
                <a:schemeClr val="dk1"/>
              </a:solidFill>
              <a:latin typeface="Calibri"/>
              <a:ea typeface="Calibri"/>
              <a:cs typeface="Calibri"/>
              <a:sym typeface="Calibri"/>
            </a:endParaRPr>
          </a:p>
        </p:txBody>
      </p:sp>
      <p:sp>
        <p:nvSpPr>
          <p:cNvPr id="126" name="Google Shape;126;p5"/>
          <p:cNvSpPr/>
          <p:nvPr/>
        </p:nvSpPr>
        <p:spPr>
          <a:xfrm>
            <a:off x="2858725" y="3039700"/>
            <a:ext cx="30792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lang="en-US" sz="1050">
                <a:solidFill>
                  <a:srgbClr val="1A1C1E"/>
                </a:solidFill>
                <a:latin typeface="Inter"/>
                <a:ea typeface="Inter"/>
                <a:cs typeface="Inter"/>
                <a:sym typeface="Inter"/>
              </a:rPr>
              <a:t>Deep Context:</a:t>
            </a:r>
            <a:r>
              <a:rPr lang="en-US" sz="1050">
                <a:solidFill>
                  <a:srgbClr val="1A1C1E"/>
                </a:solidFill>
                <a:latin typeface="Inter"/>
                <a:ea typeface="Inter"/>
                <a:cs typeface="Inter"/>
                <a:sym typeface="Inter"/>
              </a:rPr>
              <a:t> Agents share memory &amp; "Business DNA" across apps</a:t>
            </a:r>
            <a:endParaRPr sz="1100">
              <a:solidFill>
                <a:schemeClr val="dk1"/>
              </a:solidFill>
              <a:latin typeface="Calibri"/>
              <a:ea typeface="Calibri"/>
              <a:cs typeface="Calibri"/>
              <a:sym typeface="Calibri"/>
            </a:endParaRPr>
          </a:p>
        </p:txBody>
      </p:sp>
      <p:sp>
        <p:nvSpPr>
          <p:cNvPr id="127" name="Google Shape;127;p5"/>
          <p:cNvSpPr/>
          <p:nvPr/>
        </p:nvSpPr>
        <p:spPr>
          <a:xfrm>
            <a:off x="5907275" y="2998700"/>
            <a:ext cx="2895600" cy="4572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000000"/>
              </a:buClr>
              <a:buSzPts val="1200"/>
              <a:buFont typeface="Arial"/>
              <a:buNone/>
            </a:pPr>
            <a:r>
              <a:rPr b="1" lang="en-US" sz="1050">
                <a:solidFill>
                  <a:srgbClr val="1A1C1E"/>
                </a:solidFill>
                <a:latin typeface="Inter"/>
                <a:ea typeface="Inter"/>
                <a:cs typeface="Inter"/>
                <a:sym typeface="Inter"/>
              </a:rPr>
              <a:t>Medium:</a:t>
            </a:r>
            <a:r>
              <a:rPr lang="en-US" sz="1050">
                <a:solidFill>
                  <a:srgbClr val="1A1C1E"/>
                </a:solidFill>
                <a:latin typeface="Inter"/>
                <a:ea typeface="Inter"/>
                <a:cs typeface="Inter"/>
                <a:sym typeface="Inter"/>
              </a:rPr>
              <a:t> Connects for planning, not deep execution</a:t>
            </a:r>
            <a:endParaRPr sz="1100"/>
          </a:p>
          <a:p>
            <a:pPr indent="0" lvl="0" marL="0" marR="0" rtl="0" algn="l">
              <a:lnSpc>
                <a:spcPct val="150000"/>
              </a:lnSpc>
              <a:spcBef>
                <a:spcPts val="0"/>
              </a:spcBef>
              <a:spcAft>
                <a:spcPts val="0"/>
              </a:spcAft>
              <a:buClr>
                <a:srgbClr val="000000"/>
              </a:buClr>
              <a:buSzPts val="1200"/>
              <a:buFont typeface="Arial"/>
              <a:buNone/>
            </a:pPr>
            <a:r>
              <a:t/>
            </a:r>
            <a:endParaRPr sz="1200"/>
          </a:p>
        </p:txBody>
      </p:sp>
      <p:sp>
        <p:nvSpPr>
          <p:cNvPr id="128" name="Google Shape;128;p5"/>
          <p:cNvSpPr/>
          <p:nvPr/>
        </p:nvSpPr>
        <p:spPr>
          <a:xfrm>
            <a:off x="8945761" y="2998709"/>
            <a:ext cx="3008114"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lang="en-US" sz="1050">
                <a:solidFill>
                  <a:srgbClr val="1A1C1E"/>
                </a:solidFill>
                <a:latin typeface="Inter"/>
                <a:ea typeface="Inter"/>
                <a:cs typeface="Inter"/>
                <a:sym typeface="Inter"/>
              </a:rPr>
              <a:t>High:</a:t>
            </a:r>
            <a:r>
              <a:rPr lang="en-US" sz="1050">
                <a:solidFill>
                  <a:srgbClr val="1A1C1E"/>
                </a:solidFill>
                <a:latin typeface="Inter"/>
                <a:ea typeface="Inter"/>
                <a:cs typeface="Inter"/>
                <a:sym typeface="Inter"/>
              </a:rPr>
              <a:t> Connects APIs but lacks semantic understanding</a:t>
            </a:r>
            <a:endParaRPr sz="1100"/>
          </a:p>
          <a:p>
            <a:pPr indent="0" lvl="0" marL="0" marR="0" rtl="0" algn="l">
              <a:lnSpc>
                <a:spcPct val="150000"/>
              </a:lnSpc>
              <a:spcBef>
                <a:spcPts val="0"/>
              </a:spcBef>
              <a:spcAft>
                <a:spcPts val="0"/>
              </a:spcAft>
              <a:buClr>
                <a:srgbClr val="000000"/>
              </a:buClr>
              <a:buSzPts val="1200"/>
              <a:buFont typeface="Arial"/>
              <a:buNone/>
            </a:pPr>
            <a:r>
              <a:t/>
            </a:r>
            <a:endParaRPr sz="1200"/>
          </a:p>
        </p:txBody>
      </p:sp>
      <p:sp>
        <p:nvSpPr>
          <p:cNvPr id="129" name="Google Shape;129;p5"/>
          <p:cNvSpPr/>
          <p:nvPr/>
        </p:nvSpPr>
        <p:spPr>
          <a:xfrm>
            <a:off x="523875" y="3455909"/>
            <a:ext cx="2887504" cy="4572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000000"/>
              </a:buClr>
              <a:buSzPts val="1200"/>
              <a:buFont typeface="Arial"/>
              <a:buNone/>
            </a:pPr>
            <a:r>
              <a:rPr b="1" lang="en-US" sz="1200">
                <a:solidFill>
                  <a:srgbClr val="000000"/>
                </a:solidFill>
                <a:latin typeface="Arial"/>
                <a:ea typeface="Arial"/>
                <a:cs typeface="Arial"/>
                <a:sym typeface="Arial"/>
              </a:rPr>
              <a:t>Cost Structure</a:t>
            </a:r>
            <a:endParaRPr sz="1200">
              <a:solidFill>
                <a:schemeClr val="dk1"/>
              </a:solidFill>
              <a:latin typeface="Calibri"/>
              <a:ea typeface="Calibri"/>
              <a:cs typeface="Calibri"/>
              <a:sym typeface="Calibri"/>
            </a:endParaRPr>
          </a:p>
        </p:txBody>
      </p:sp>
      <p:sp>
        <p:nvSpPr>
          <p:cNvPr id="130" name="Google Shape;130;p5"/>
          <p:cNvSpPr/>
          <p:nvPr/>
        </p:nvSpPr>
        <p:spPr>
          <a:xfrm>
            <a:off x="2858750" y="3552450"/>
            <a:ext cx="3079200" cy="360600"/>
          </a:xfrm>
          <a:prstGeom prst="rect">
            <a:avLst/>
          </a:prstGeom>
          <a:noFill/>
          <a:ln>
            <a:noFill/>
          </a:ln>
        </p:spPr>
        <p:txBody>
          <a:bodyPr anchorCtr="0" anchor="t" bIns="0" lIns="0" spcFirstLastPara="1" rIns="0" wrap="square" tIns="0">
            <a:noAutofit/>
          </a:bodyPr>
          <a:lstStyle/>
          <a:p>
            <a:pPr indent="0" lvl="0" marL="0" rtl="0" algn="l">
              <a:lnSpc>
                <a:spcPct val="150000"/>
              </a:lnSpc>
              <a:spcBef>
                <a:spcPts val="1000"/>
              </a:spcBef>
              <a:spcAft>
                <a:spcPts val="0"/>
              </a:spcAft>
              <a:buNone/>
            </a:pPr>
            <a:r>
              <a:rPr b="1" lang="en-US" sz="1050">
                <a:solidFill>
                  <a:srgbClr val="1A1C1E"/>
                </a:solidFill>
                <a:latin typeface="Inter"/>
                <a:ea typeface="Inter"/>
                <a:cs typeface="Inter"/>
                <a:sym typeface="Inter"/>
              </a:rPr>
              <a:t>Value-Based:</a:t>
            </a:r>
            <a:r>
              <a:rPr lang="en-US" sz="1050">
                <a:solidFill>
                  <a:srgbClr val="1A1C1E"/>
                </a:solidFill>
                <a:latin typeface="Inter"/>
                <a:ea typeface="Inter"/>
                <a:cs typeface="Inter"/>
                <a:sym typeface="Inter"/>
              </a:rPr>
              <a:t> Reduces headcount cost</a:t>
            </a:r>
            <a:endParaRPr sz="1050">
              <a:solidFill>
                <a:srgbClr val="1A1C1E"/>
              </a:solidFill>
              <a:latin typeface="Inter"/>
              <a:ea typeface="Inter"/>
              <a:cs typeface="Inter"/>
              <a:sym typeface="Inter"/>
            </a:endParaRPr>
          </a:p>
          <a:p>
            <a:pPr indent="0" lvl="0" marL="0" marR="0" rtl="0" algn="ctr">
              <a:lnSpc>
                <a:spcPct val="100000"/>
              </a:lnSpc>
              <a:spcBef>
                <a:spcPts val="0"/>
              </a:spcBef>
              <a:spcAft>
                <a:spcPts val="0"/>
              </a:spcAft>
              <a:buClr>
                <a:srgbClr val="000000"/>
              </a:buClr>
              <a:buSzPts val="1200"/>
              <a:buFont typeface="Arial"/>
              <a:buNone/>
            </a:pPr>
            <a:r>
              <a:t/>
            </a:r>
            <a:endParaRPr b="1" sz="1050">
              <a:solidFill>
                <a:srgbClr val="1A1C1E"/>
              </a:solidFill>
              <a:latin typeface="Inter"/>
              <a:ea typeface="Inter"/>
              <a:cs typeface="Inter"/>
              <a:sym typeface="Inter"/>
            </a:endParaRPr>
          </a:p>
        </p:txBody>
      </p:sp>
      <p:sp>
        <p:nvSpPr>
          <p:cNvPr id="131" name="Google Shape;131;p5"/>
          <p:cNvSpPr/>
          <p:nvPr/>
        </p:nvSpPr>
        <p:spPr>
          <a:xfrm>
            <a:off x="5795075" y="3552499"/>
            <a:ext cx="3007800" cy="3606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b="1" lang="en-US" sz="1050">
                <a:solidFill>
                  <a:srgbClr val="1A1C1E"/>
                </a:solidFill>
                <a:latin typeface="Inter"/>
                <a:ea typeface="Inter"/>
                <a:cs typeface="Inter"/>
                <a:sym typeface="Inter"/>
              </a:rPr>
              <a:t>SaaS Subscription:</a:t>
            </a:r>
            <a:r>
              <a:rPr lang="en-US" sz="1050">
                <a:solidFill>
                  <a:srgbClr val="1A1C1E"/>
                </a:solidFill>
                <a:latin typeface="Inter"/>
                <a:ea typeface="Inter"/>
                <a:cs typeface="Inter"/>
                <a:sym typeface="Inter"/>
              </a:rPr>
              <a:t> Planning tool pricing</a:t>
            </a:r>
            <a:endParaRPr sz="1100"/>
          </a:p>
          <a:p>
            <a:pPr indent="0" lvl="0" marL="0" marR="0" rtl="0" algn="l">
              <a:lnSpc>
                <a:spcPct val="150000"/>
              </a:lnSpc>
              <a:spcBef>
                <a:spcPts val="0"/>
              </a:spcBef>
              <a:spcAft>
                <a:spcPts val="0"/>
              </a:spcAft>
              <a:buClr>
                <a:srgbClr val="000000"/>
              </a:buClr>
              <a:buSzPts val="1200"/>
              <a:buFont typeface="Arial"/>
              <a:buNone/>
            </a:pPr>
            <a:r>
              <a:t/>
            </a:r>
            <a:endParaRPr sz="1200"/>
          </a:p>
        </p:txBody>
      </p:sp>
      <p:sp>
        <p:nvSpPr>
          <p:cNvPr id="132" name="Google Shape;132;p5"/>
          <p:cNvSpPr/>
          <p:nvPr/>
        </p:nvSpPr>
        <p:spPr>
          <a:xfrm>
            <a:off x="8945750" y="3552502"/>
            <a:ext cx="3008100" cy="3606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000000"/>
              </a:buClr>
              <a:buSzPts val="1200"/>
              <a:buFont typeface="Arial"/>
              <a:buNone/>
            </a:pPr>
            <a:r>
              <a:rPr b="1" lang="en-US" sz="1050">
                <a:solidFill>
                  <a:srgbClr val="1A1C1E"/>
                </a:solidFill>
                <a:latin typeface="Inter"/>
                <a:ea typeface="Inter"/>
                <a:cs typeface="Inter"/>
                <a:sym typeface="Inter"/>
              </a:rPr>
              <a:t>Usage-Based:</a:t>
            </a:r>
            <a:r>
              <a:rPr lang="en-US" sz="1050">
                <a:solidFill>
                  <a:srgbClr val="1A1C1E"/>
                </a:solidFill>
                <a:latin typeface="Inter"/>
                <a:ea typeface="Inter"/>
                <a:cs typeface="Inter"/>
                <a:sym typeface="Inter"/>
              </a:rPr>
              <a:t> Per operation/action</a:t>
            </a:r>
            <a:endParaRPr sz="1100"/>
          </a:p>
          <a:p>
            <a:pPr indent="0" lvl="0" marL="0" marR="0" rtl="0" algn="l">
              <a:lnSpc>
                <a:spcPct val="150000"/>
              </a:lnSpc>
              <a:spcBef>
                <a:spcPts val="0"/>
              </a:spcBef>
              <a:spcAft>
                <a:spcPts val="0"/>
              </a:spcAft>
              <a:buClr>
                <a:srgbClr val="000000"/>
              </a:buClr>
              <a:buSzPts val="1200"/>
              <a:buFont typeface="Arial"/>
              <a:buNone/>
            </a:pPr>
            <a:r>
              <a:t/>
            </a:r>
            <a:endParaRPr sz="1200"/>
          </a:p>
          <a:p>
            <a:pPr indent="0" lvl="0" marL="0" marR="0" rtl="0" algn="l">
              <a:lnSpc>
                <a:spcPct val="150000"/>
              </a:lnSpc>
              <a:spcBef>
                <a:spcPts val="0"/>
              </a:spcBef>
              <a:spcAft>
                <a:spcPts val="0"/>
              </a:spcAft>
              <a:buClr>
                <a:srgbClr val="000000"/>
              </a:buClr>
              <a:buSzPts val="1200"/>
              <a:buFont typeface="Arial"/>
              <a:buNone/>
            </a:pPr>
            <a:r>
              <a:t/>
            </a:r>
            <a:endParaRPr sz="1200">
              <a:solidFill>
                <a:schemeClr val="dk1"/>
              </a:solidFill>
              <a:latin typeface="Calibri"/>
              <a:ea typeface="Calibri"/>
              <a:cs typeface="Calibri"/>
              <a:sym typeface="Calibri"/>
            </a:endParaRPr>
          </a:p>
        </p:txBody>
      </p:sp>
      <p:sp>
        <p:nvSpPr>
          <p:cNvPr id="133" name="Google Shape;133;p5"/>
          <p:cNvSpPr/>
          <p:nvPr/>
        </p:nvSpPr>
        <p:spPr>
          <a:xfrm>
            <a:off x="676275" y="4244809"/>
            <a:ext cx="11430000" cy="266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F2937"/>
              </a:buClr>
              <a:buSzPts val="1500"/>
              <a:buFont typeface="Arial"/>
              <a:buNone/>
            </a:pPr>
            <a:r>
              <a:rPr b="1" lang="en-US" sz="1500">
                <a:solidFill>
                  <a:srgbClr val="1F2937"/>
                </a:solidFill>
                <a:latin typeface="Arial"/>
                <a:ea typeface="Arial"/>
                <a:cs typeface="Arial"/>
                <a:sym typeface="Arial"/>
              </a:rPr>
              <a:t>Key Differentiators</a:t>
            </a:r>
            <a:endParaRPr sz="1500">
              <a:solidFill>
                <a:schemeClr val="dk1"/>
              </a:solidFill>
              <a:latin typeface="Calibri"/>
              <a:ea typeface="Calibri"/>
              <a:cs typeface="Calibri"/>
              <a:sym typeface="Calibri"/>
            </a:endParaRPr>
          </a:p>
        </p:txBody>
      </p:sp>
      <p:pic>
        <p:nvPicPr>
          <p:cNvPr id="134" name="Google Shape;134;p5"/>
          <p:cNvPicPr preferRelativeResize="0"/>
          <p:nvPr/>
        </p:nvPicPr>
        <p:blipFill rotWithShape="1">
          <a:blip r:embed="rId15">
            <a:alphaModFix/>
          </a:blip>
          <a:srcRect b="0" l="0" r="0" t="0"/>
          <a:stretch/>
        </p:blipFill>
        <p:spPr>
          <a:xfrm>
            <a:off x="8451658" y="0"/>
            <a:ext cx="3740342" cy="762039"/>
          </a:xfrm>
          <a:prstGeom prst="rect">
            <a:avLst/>
          </a:prstGeom>
          <a:noFill/>
          <a:ln>
            <a:noFill/>
          </a:ln>
        </p:spPr>
      </p:pic>
      <p:sp>
        <p:nvSpPr>
          <p:cNvPr id="135" name="Google Shape;135;p5"/>
          <p:cNvSpPr/>
          <p:nvPr/>
        </p:nvSpPr>
        <p:spPr>
          <a:xfrm>
            <a:off x="342900" y="4626145"/>
            <a:ext cx="11506200" cy="1492500"/>
          </a:xfrm>
          <a:prstGeom prst="rect">
            <a:avLst/>
          </a:prstGeom>
          <a:noFill/>
          <a:ln>
            <a:noFill/>
          </a:ln>
        </p:spPr>
        <p:txBody>
          <a:bodyPr anchorCtr="0" anchor="t" bIns="0" lIns="0" spcFirstLastPara="1" rIns="0" wrap="square" tIns="0">
            <a:noAutofit/>
          </a:bodyPr>
          <a:lstStyle/>
          <a:p>
            <a:pPr indent="-317500" lvl="0" marL="457200" rtl="0" algn="l">
              <a:lnSpc>
                <a:spcPct val="142857"/>
              </a:lnSpc>
              <a:spcBef>
                <a:spcPts val="1000"/>
              </a:spcBef>
              <a:spcAft>
                <a:spcPts val="0"/>
              </a:spcAft>
              <a:buClr>
                <a:srgbClr val="1A1C1E"/>
              </a:buClr>
              <a:buSzPts val="1400"/>
              <a:buFont typeface="Inter"/>
              <a:buChar char="●"/>
            </a:pPr>
            <a:r>
              <a:rPr b="1" lang="en-US">
                <a:solidFill>
                  <a:srgbClr val="1A1C1E"/>
                </a:solidFill>
                <a:highlight>
                  <a:srgbClr val="FFFFFF"/>
                </a:highlight>
                <a:latin typeface="Times New Roman"/>
                <a:ea typeface="Times New Roman"/>
                <a:cs typeface="Times New Roman"/>
                <a:sym typeface="Times New Roman"/>
              </a:rPr>
              <a:t>Business DNA Integration:</a:t>
            </a:r>
            <a:r>
              <a:rPr lang="en-US">
                <a:solidFill>
                  <a:srgbClr val="1A1C1E"/>
                </a:solidFill>
                <a:highlight>
                  <a:srgbClr val="FFFFFF"/>
                </a:highlight>
                <a:latin typeface="Times New Roman"/>
                <a:ea typeface="Times New Roman"/>
                <a:cs typeface="Times New Roman"/>
                <a:sym typeface="Times New Roman"/>
              </a:rPr>
              <a:t> Unlike competitors that generate generic content, Pulse anchors all output to the extracted visual and tonal DNA of the brand (fonts, colors, voice), ensuring </a:t>
            </a:r>
            <a:r>
              <a:rPr b="1" lang="en-US">
                <a:solidFill>
                  <a:srgbClr val="1A1C1E"/>
                </a:solidFill>
                <a:highlight>
                  <a:srgbClr val="FFFFFF"/>
                </a:highlight>
                <a:latin typeface="Times New Roman"/>
                <a:ea typeface="Times New Roman"/>
                <a:cs typeface="Times New Roman"/>
                <a:sym typeface="Times New Roman"/>
              </a:rPr>
              <a:t>authentic engagement</a:t>
            </a:r>
            <a:r>
              <a:rPr lang="en-US">
                <a:solidFill>
                  <a:srgbClr val="1A1C1E"/>
                </a:solidFill>
                <a:highlight>
                  <a:srgbClr val="FFFFFF"/>
                </a:highlight>
                <a:latin typeface="Times New Roman"/>
                <a:ea typeface="Times New Roman"/>
                <a:cs typeface="Times New Roman"/>
                <a:sym typeface="Times New Roman"/>
              </a:rPr>
              <a:t>.</a:t>
            </a:r>
            <a:endParaRPr>
              <a:solidFill>
                <a:srgbClr val="1A1C1E"/>
              </a:solidFill>
              <a:highlight>
                <a:srgbClr val="FFFFFF"/>
              </a:highlight>
              <a:latin typeface="Times New Roman"/>
              <a:ea typeface="Times New Roman"/>
              <a:cs typeface="Times New Roman"/>
              <a:sym typeface="Times New Roman"/>
            </a:endParaRPr>
          </a:p>
          <a:p>
            <a:pPr indent="-317500" lvl="0" marL="457200" rtl="0" algn="l">
              <a:lnSpc>
                <a:spcPct val="142857"/>
              </a:lnSpc>
              <a:spcBef>
                <a:spcPts val="0"/>
              </a:spcBef>
              <a:spcAft>
                <a:spcPts val="0"/>
              </a:spcAft>
              <a:buClr>
                <a:srgbClr val="1A1C1E"/>
              </a:buClr>
              <a:buSzPts val="1400"/>
              <a:buFont typeface="Inter"/>
              <a:buChar char="●"/>
            </a:pPr>
            <a:r>
              <a:rPr b="1" lang="en-US">
                <a:solidFill>
                  <a:srgbClr val="1A1C1E"/>
                </a:solidFill>
                <a:highlight>
                  <a:srgbClr val="FFFFFF"/>
                </a:highlight>
                <a:latin typeface="Times New Roman"/>
                <a:ea typeface="Times New Roman"/>
                <a:cs typeface="Times New Roman"/>
                <a:sym typeface="Times New Roman"/>
              </a:rPr>
              <a:t>Autonomous Closed-Loop:</a:t>
            </a:r>
            <a:r>
              <a:rPr lang="en-US">
                <a:solidFill>
                  <a:srgbClr val="1A1C1E"/>
                </a:solidFill>
                <a:highlight>
                  <a:srgbClr val="FFFFFF"/>
                </a:highlight>
                <a:latin typeface="Times New Roman"/>
                <a:ea typeface="Times New Roman"/>
                <a:cs typeface="Times New Roman"/>
                <a:sym typeface="Times New Roman"/>
              </a:rPr>
              <a:t> Make requires humans to build logic flows; Waxwing requires humans to execute the plan. </a:t>
            </a:r>
            <a:r>
              <a:rPr b="1" lang="en-US">
                <a:solidFill>
                  <a:srgbClr val="1A1C1E"/>
                </a:solidFill>
                <a:highlight>
                  <a:srgbClr val="FFFFFF"/>
                </a:highlight>
                <a:latin typeface="Times New Roman"/>
                <a:ea typeface="Times New Roman"/>
                <a:cs typeface="Times New Roman"/>
                <a:sym typeface="Times New Roman"/>
              </a:rPr>
              <a:t>Pulse</a:t>
            </a:r>
            <a:r>
              <a:rPr lang="en-US">
                <a:solidFill>
                  <a:srgbClr val="1A1C1E"/>
                </a:solidFill>
                <a:highlight>
                  <a:srgbClr val="FFFFFF"/>
                </a:highlight>
                <a:latin typeface="Times New Roman"/>
                <a:ea typeface="Times New Roman"/>
                <a:cs typeface="Times New Roman"/>
                <a:sym typeface="Times New Roman"/>
              </a:rPr>
              <a:t> is the only solution where the Analyst Agent can autonomously instruct the Content Agent to change strategy based on data, without human intervention.</a:t>
            </a:r>
            <a:endParaRPr>
              <a:solidFill>
                <a:srgbClr val="1A1C1E"/>
              </a:solidFill>
              <a:highlight>
                <a:srgbClr val="FFFFFF"/>
              </a:highlight>
              <a:latin typeface="Times New Roman"/>
              <a:ea typeface="Times New Roman"/>
              <a:cs typeface="Times New Roman"/>
              <a:sym typeface="Times New Roman"/>
            </a:endParaRPr>
          </a:p>
          <a:p>
            <a:pPr indent="-317500" lvl="0" marL="457200" rtl="0" algn="l">
              <a:lnSpc>
                <a:spcPct val="142857"/>
              </a:lnSpc>
              <a:spcBef>
                <a:spcPts val="0"/>
              </a:spcBef>
              <a:spcAft>
                <a:spcPts val="0"/>
              </a:spcAft>
              <a:buClr>
                <a:srgbClr val="1A1C1E"/>
              </a:buClr>
              <a:buSzPts val="1400"/>
              <a:buFont typeface="Inter"/>
              <a:buChar char="●"/>
            </a:pPr>
            <a:r>
              <a:rPr b="1" lang="en-US">
                <a:solidFill>
                  <a:srgbClr val="1A1C1E"/>
                </a:solidFill>
                <a:highlight>
                  <a:srgbClr val="FFFFFF"/>
                </a:highlight>
                <a:latin typeface="Times New Roman"/>
                <a:ea typeface="Times New Roman"/>
                <a:cs typeface="Times New Roman"/>
                <a:sym typeface="Times New Roman"/>
              </a:rPr>
              <a:t>Active Listening:</a:t>
            </a:r>
            <a:r>
              <a:rPr lang="en-US">
                <a:solidFill>
                  <a:srgbClr val="1A1C1E"/>
                </a:solidFill>
                <a:highlight>
                  <a:srgbClr val="FFFFFF"/>
                </a:highlight>
                <a:latin typeface="Times New Roman"/>
                <a:ea typeface="Times New Roman"/>
                <a:cs typeface="Times New Roman"/>
                <a:sym typeface="Times New Roman"/>
              </a:rPr>
              <a:t> Pulse doesn't just post; it listens (via Reddit, ..etc.) and reacts to trends autonomously.</a:t>
            </a:r>
            <a:endParaRPr>
              <a:solidFill>
                <a:schemeClr val="dk1"/>
              </a:solidFill>
              <a:latin typeface="Times New Roman"/>
              <a:ea typeface="Times New Roman"/>
              <a:cs typeface="Times New Roman"/>
              <a:sym typeface="Times New Roman"/>
            </a:endParaRPr>
          </a:p>
        </p:txBody>
      </p:sp>
      <p:pic>
        <p:nvPicPr>
          <p:cNvPr descr="preencoded.png" id="136" name="Google Shape;136;p5"/>
          <p:cNvPicPr preferRelativeResize="0"/>
          <p:nvPr/>
        </p:nvPicPr>
        <p:blipFill rotWithShape="1">
          <a:blip r:embed="rId16">
            <a:alphaModFix/>
          </a:blip>
          <a:srcRect b="0" l="0" r="0" t="0"/>
          <a:stretch/>
        </p:blipFill>
        <p:spPr>
          <a:xfrm>
            <a:off x="0" y="762000"/>
            <a:ext cx="12192000" cy="47625"/>
          </a:xfrm>
          <a:prstGeom prst="rect">
            <a:avLst/>
          </a:prstGeom>
          <a:noFill/>
          <a:ln>
            <a:noFill/>
          </a:ln>
        </p:spPr>
      </p:pic>
      <p:graphicFrame>
        <p:nvGraphicFramePr>
          <p:cNvPr id="137" name="Google Shape;137;p5"/>
          <p:cNvGraphicFramePr/>
          <p:nvPr/>
        </p:nvGraphicFramePr>
        <p:xfrm>
          <a:off x="152400" y="152400"/>
          <a:ext cx="3000000" cy="3000000"/>
        </p:xfrm>
        <a:graphic>
          <a:graphicData uri="http://schemas.openxmlformats.org/drawingml/2006/table">
            <a:tbl>
              <a:tblPr>
                <a:noFill/>
                <a:tableStyleId>{3E784667-161B-48FC-828F-91BF0C9C1680}</a:tableStyleId>
              </a:tblPr>
              <a:tblGrid>
                <a:gridCol w="2895600"/>
              </a:tblGrid>
              <a:tr h="190500">
                <a:tc>
                  <a:txBody>
                    <a:bodyPr/>
                    <a:lstStyle/>
                    <a:p>
                      <a:pPr indent="0" lvl="0" marL="0" rtl="0" algn="l">
                        <a:spcBef>
                          <a:spcPts val="0"/>
                        </a:spcBef>
                        <a:spcAft>
                          <a:spcPts val="0"/>
                        </a:spcAft>
                        <a:buNone/>
                      </a:pPr>
                      <a:r>
                        <a:t/>
                      </a:r>
                      <a:endParaRPr/>
                    </a:p>
                  </a:txBody>
                  <a:tcPr marT="91425" marB="91425" marR="91425" marL="91425"/>
                </a:tc>
              </a:tr>
            </a:tbl>
          </a:graphicData>
        </a:graphic>
      </p:graphicFrame>
      <p:graphicFrame>
        <p:nvGraphicFramePr>
          <p:cNvPr id="138" name="Google Shape;138;p5"/>
          <p:cNvGraphicFramePr/>
          <p:nvPr/>
        </p:nvGraphicFramePr>
        <p:xfrm>
          <a:off x="304800" y="304800"/>
          <a:ext cx="3000000" cy="3000000"/>
        </p:xfrm>
        <a:graphic>
          <a:graphicData uri="http://schemas.openxmlformats.org/drawingml/2006/table">
            <a:tbl>
              <a:tblPr>
                <a:noFill/>
                <a:tableStyleId>{3E784667-161B-48FC-828F-91BF0C9C1680}</a:tableStyleId>
              </a:tblPr>
              <a:tblGrid>
                <a:gridCol w="19050"/>
              </a:tblGrid>
              <a:tr h="19050">
                <a:tc>
                  <a:txBody>
                    <a:bodyPr/>
                    <a:lstStyle/>
                    <a:p>
                      <a:pPr indent="0" lvl="0" marL="0" rtl="0" algn="l">
                        <a:spcBef>
                          <a:spcPts val="0"/>
                        </a:spcBef>
                        <a:spcAft>
                          <a:spcPts val="0"/>
                        </a:spcAft>
                        <a:buNone/>
                      </a:pPr>
                      <a:r>
                        <a:t/>
                      </a:r>
                      <a:endParaRPr/>
                    </a:p>
                  </a:txBody>
                  <a:tcPr marT="91425" marB="91425" marR="91425" marL="91425"/>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pic>
        <p:nvPicPr>
          <p:cNvPr descr="preencoded.png" id="143" name="Google Shape;143;g3a78f71d699_0_116"/>
          <p:cNvPicPr preferRelativeResize="0"/>
          <p:nvPr/>
        </p:nvPicPr>
        <p:blipFill rotWithShape="1">
          <a:blip r:embed="rId3">
            <a:alphaModFix/>
          </a:blip>
          <a:srcRect b="0" l="0" r="0" t="0"/>
          <a:stretch/>
        </p:blipFill>
        <p:spPr>
          <a:xfrm>
            <a:off x="0" y="0"/>
            <a:ext cx="12192002" cy="762000"/>
          </a:xfrm>
          <a:prstGeom prst="rect">
            <a:avLst/>
          </a:prstGeom>
          <a:noFill/>
          <a:ln>
            <a:noFill/>
          </a:ln>
        </p:spPr>
      </p:pic>
      <p:pic>
        <p:nvPicPr>
          <p:cNvPr id="144" name="Google Shape;144;g3a78f71d699_0_116"/>
          <p:cNvPicPr preferRelativeResize="0"/>
          <p:nvPr/>
        </p:nvPicPr>
        <p:blipFill rotWithShape="1">
          <a:blip r:embed="rId4">
            <a:alphaModFix/>
          </a:blip>
          <a:srcRect b="0" l="0" r="0" t="0"/>
          <a:stretch/>
        </p:blipFill>
        <p:spPr>
          <a:xfrm>
            <a:off x="8451658" y="0"/>
            <a:ext cx="3740341" cy="762039"/>
          </a:xfrm>
          <a:prstGeom prst="rect">
            <a:avLst/>
          </a:prstGeom>
          <a:noFill/>
          <a:ln>
            <a:noFill/>
          </a:ln>
        </p:spPr>
      </p:pic>
      <p:sp>
        <p:nvSpPr>
          <p:cNvPr id="145" name="Google Shape;145;g3a78f71d699_0_116"/>
          <p:cNvSpPr/>
          <p:nvPr/>
        </p:nvSpPr>
        <p:spPr>
          <a:xfrm>
            <a:off x="381000" y="209550"/>
            <a:ext cx="7589400" cy="3429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FFFFF"/>
              </a:buClr>
              <a:buSzPts val="2250"/>
              <a:buFont typeface="Arial"/>
              <a:buNone/>
            </a:pPr>
            <a:r>
              <a:rPr b="1" lang="en-US" sz="2250">
                <a:solidFill>
                  <a:srgbClr val="FFFFFF"/>
                </a:solidFill>
                <a:latin typeface="Arial"/>
                <a:ea typeface="Arial"/>
                <a:cs typeface="Arial"/>
                <a:sym typeface="Arial"/>
              </a:rPr>
              <a:t>Competitive Analysis</a:t>
            </a:r>
            <a:endParaRPr sz="2250">
              <a:solidFill>
                <a:schemeClr val="dk1"/>
              </a:solidFill>
              <a:latin typeface="Calibri"/>
              <a:ea typeface="Calibri"/>
              <a:cs typeface="Calibri"/>
              <a:sym typeface="Calibri"/>
            </a:endParaRPr>
          </a:p>
        </p:txBody>
      </p:sp>
      <p:pic>
        <p:nvPicPr>
          <p:cNvPr id="146" name="Google Shape;146;g3a78f71d699_0_116"/>
          <p:cNvPicPr preferRelativeResize="0"/>
          <p:nvPr/>
        </p:nvPicPr>
        <p:blipFill>
          <a:blip r:embed="rId5">
            <a:alphaModFix/>
          </a:blip>
          <a:stretch>
            <a:fillRect/>
          </a:stretch>
        </p:blipFill>
        <p:spPr>
          <a:xfrm>
            <a:off x="3989025" y="1852833"/>
            <a:ext cx="4462625" cy="1333195"/>
          </a:xfrm>
          <a:prstGeom prst="rect">
            <a:avLst/>
          </a:prstGeom>
          <a:noFill/>
          <a:ln>
            <a:noFill/>
          </a:ln>
        </p:spPr>
      </p:pic>
      <p:sp>
        <p:nvSpPr>
          <p:cNvPr id="147" name="Google Shape;147;g3a78f71d699_0_116"/>
          <p:cNvSpPr txBox="1"/>
          <p:nvPr/>
        </p:nvSpPr>
        <p:spPr>
          <a:xfrm>
            <a:off x="5245349" y="984163"/>
            <a:ext cx="17013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3000"/>
              <a:t>Pomelli</a:t>
            </a:r>
            <a:endParaRPr b="1" sz="3000"/>
          </a:p>
        </p:txBody>
      </p:sp>
      <p:sp>
        <p:nvSpPr>
          <p:cNvPr id="148" name="Google Shape;148;g3a78f71d699_0_116"/>
          <p:cNvSpPr txBox="1"/>
          <p:nvPr/>
        </p:nvSpPr>
        <p:spPr>
          <a:xfrm>
            <a:off x="8692125" y="1020550"/>
            <a:ext cx="1614900" cy="49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b="1" sz="2000"/>
          </a:p>
        </p:txBody>
      </p:sp>
      <p:pic>
        <p:nvPicPr>
          <p:cNvPr id="149" name="Google Shape;149;g3a78f71d699_0_116"/>
          <p:cNvPicPr preferRelativeResize="0"/>
          <p:nvPr/>
        </p:nvPicPr>
        <p:blipFill>
          <a:blip r:embed="rId6">
            <a:alphaModFix/>
          </a:blip>
          <a:stretch>
            <a:fillRect/>
          </a:stretch>
        </p:blipFill>
        <p:spPr>
          <a:xfrm>
            <a:off x="132475" y="3473125"/>
            <a:ext cx="6326800" cy="3222549"/>
          </a:xfrm>
          <a:prstGeom prst="rect">
            <a:avLst/>
          </a:prstGeom>
          <a:noFill/>
          <a:ln>
            <a:noFill/>
          </a:ln>
        </p:spPr>
      </p:pic>
      <p:pic>
        <p:nvPicPr>
          <p:cNvPr id="150" name="Google Shape;150;g3a78f71d699_0_116"/>
          <p:cNvPicPr preferRelativeResize="0"/>
          <p:nvPr/>
        </p:nvPicPr>
        <p:blipFill>
          <a:blip r:embed="rId7">
            <a:alphaModFix/>
          </a:blip>
          <a:stretch>
            <a:fillRect/>
          </a:stretch>
        </p:blipFill>
        <p:spPr>
          <a:xfrm>
            <a:off x="6524550" y="3473125"/>
            <a:ext cx="5427926" cy="32225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pic>
        <p:nvPicPr>
          <p:cNvPr descr="preencoded.png" id="156" name="Google Shape;156;p6"/>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preencoded.png" id="157" name="Google Shape;157;p6"/>
          <p:cNvPicPr preferRelativeResize="0"/>
          <p:nvPr/>
        </p:nvPicPr>
        <p:blipFill rotWithShape="1">
          <a:blip r:embed="rId4">
            <a:alphaModFix/>
          </a:blip>
          <a:srcRect b="0" l="0" r="0" t="0"/>
          <a:stretch/>
        </p:blipFill>
        <p:spPr>
          <a:xfrm>
            <a:off x="0" y="0"/>
            <a:ext cx="12192002" cy="762000"/>
          </a:xfrm>
          <a:prstGeom prst="rect">
            <a:avLst/>
          </a:prstGeom>
          <a:noFill/>
          <a:ln>
            <a:noFill/>
          </a:ln>
        </p:spPr>
      </p:pic>
      <p:pic>
        <p:nvPicPr>
          <p:cNvPr descr="preencoded.png" id="158" name="Google Shape;158;p6"/>
          <p:cNvPicPr preferRelativeResize="0"/>
          <p:nvPr/>
        </p:nvPicPr>
        <p:blipFill rotWithShape="1">
          <a:blip r:embed="rId5">
            <a:alphaModFix/>
          </a:blip>
          <a:srcRect b="0" l="0" r="0" t="0"/>
          <a:stretch/>
        </p:blipFill>
        <p:spPr>
          <a:xfrm>
            <a:off x="479325" y="2505075"/>
            <a:ext cx="11429998" cy="38100"/>
          </a:xfrm>
          <a:prstGeom prst="rect">
            <a:avLst/>
          </a:prstGeom>
          <a:noFill/>
          <a:ln>
            <a:noFill/>
          </a:ln>
        </p:spPr>
      </p:pic>
      <p:pic>
        <p:nvPicPr>
          <p:cNvPr descr="preencoded.png" id="159" name="Google Shape;159;p6"/>
          <p:cNvPicPr preferRelativeResize="0"/>
          <p:nvPr/>
        </p:nvPicPr>
        <p:blipFill rotWithShape="1">
          <a:blip r:embed="rId6">
            <a:alphaModFix/>
          </a:blip>
          <a:srcRect b="0" l="0" r="0" t="0"/>
          <a:stretch/>
        </p:blipFill>
        <p:spPr>
          <a:xfrm>
            <a:off x="952500" y="2038350"/>
            <a:ext cx="190500" cy="190500"/>
          </a:xfrm>
          <a:prstGeom prst="rect">
            <a:avLst/>
          </a:prstGeom>
          <a:noFill/>
          <a:ln>
            <a:noFill/>
          </a:ln>
        </p:spPr>
      </p:pic>
      <p:pic>
        <p:nvPicPr>
          <p:cNvPr descr="preencoded.png" id="160" name="Google Shape;160;p6"/>
          <p:cNvPicPr preferRelativeResize="0"/>
          <p:nvPr/>
        </p:nvPicPr>
        <p:blipFill rotWithShape="1">
          <a:blip r:embed="rId7">
            <a:alphaModFix/>
          </a:blip>
          <a:srcRect b="0" l="0" r="0" t="0"/>
          <a:stretch/>
        </p:blipFill>
        <p:spPr>
          <a:xfrm>
            <a:off x="860325" y="2295525"/>
            <a:ext cx="381000" cy="381000"/>
          </a:xfrm>
          <a:prstGeom prst="rect">
            <a:avLst/>
          </a:prstGeom>
          <a:noFill/>
          <a:ln>
            <a:noFill/>
          </a:ln>
        </p:spPr>
      </p:pic>
      <p:pic>
        <p:nvPicPr>
          <p:cNvPr descr="preencoded.png" id="161" name="Google Shape;161;p6"/>
          <p:cNvPicPr preferRelativeResize="0"/>
          <p:nvPr/>
        </p:nvPicPr>
        <p:blipFill rotWithShape="1">
          <a:blip r:embed="rId8">
            <a:alphaModFix/>
          </a:blip>
          <a:srcRect b="0" l="0" r="0" t="0"/>
          <a:stretch/>
        </p:blipFill>
        <p:spPr>
          <a:xfrm>
            <a:off x="974625" y="2414588"/>
            <a:ext cx="152400" cy="152400"/>
          </a:xfrm>
          <a:prstGeom prst="rect">
            <a:avLst/>
          </a:prstGeom>
          <a:noFill/>
          <a:ln>
            <a:noFill/>
          </a:ln>
        </p:spPr>
      </p:pic>
      <p:pic>
        <p:nvPicPr>
          <p:cNvPr descr="preencoded.png" id="162" name="Google Shape;162;p6"/>
          <p:cNvPicPr preferRelativeResize="0"/>
          <p:nvPr/>
        </p:nvPicPr>
        <p:blipFill rotWithShape="1">
          <a:blip r:embed="rId6">
            <a:alphaModFix/>
          </a:blip>
          <a:srcRect b="0" l="0" r="0" t="0"/>
          <a:stretch/>
        </p:blipFill>
        <p:spPr>
          <a:xfrm>
            <a:off x="3908325" y="2428875"/>
            <a:ext cx="190500" cy="190500"/>
          </a:xfrm>
          <a:prstGeom prst="rect">
            <a:avLst/>
          </a:prstGeom>
          <a:noFill/>
          <a:ln>
            <a:noFill/>
          </a:ln>
        </p:spPr>
      </p:pic>
      <p:pic>
        <p:nvPicPr>
          <p:cNvPr descr="preencoded.png" id="163" name="Google Shape;163;p6"/>
          <p:cNvPicPr preferRelativeResize="0"/>
          <p:nvPr/>
        </p:nvPicPr>
        <p:blipFill rotWithShape="1">
          <a:blip r:embed="rId9">
            <a:alphaModFix/>
          </a:blip>
          <a:srcRect b="0" l="0" r="0" t="0"/>
          <a:stretch/>
        </p:blipFill>
        <p:spPr>
          <a:xfrm>
            <a:off x="3717825" y="2743200"/>
            <a:ext cx="381000" cy="381000"/>
          </a:xfrm>
          <a:prstGeom prst="rect">
            <a:avLst/>
          </a:prstGeom>
          <a:noFill/>
          <a:ln>
            <a:noFill/>
          </a:ln>
        </p:spPr>
      </p:pic>
      <p:pic>
        <p:nvPicPr>
          <p:cNvPr descr="preencoded.png" id="164" name="Google Shape;164;p6"/>
          <p:cNvPicPr preferRelativeResize="0"/>
          <p:nvPr/>
        </p:nvPicPr>
        <p:blipFill rotWithShape="1">
          <a:blip r:embed="rId10">
            <a:alphaModFix/>
          </a:blip>
          <a:srcRect b="0" l="0" r="0" t="0"/>
          <a:stretch/>
        </p:blipFill>
        <p:spPr>
          <a:xfrm>
            <a:off x="3832125" y="2857500"/>
            <a:ext cx="152400" cy="152400"/>
          </a:xfrm>
          <a:prstGeom prst="rect">
            <a:avLst/>
          </a:prstGeom>
          <a:noFill/>
          <a:ln>
            <a:noFill/>
          </a:ln>
        </p:spPr>
      </p:pic>
      <p:pic>
        <p:nvPicPr>
          <p:cNvPr descr="preencoded.png" id="165" name="Google Shape;165;p6"/>
          <p:cNvPicPr preferRelativeResize="0"/>
          <p:nvPr/>
        </p:nvPicPr>
        <p:blipFill rotWithShape="1">
          <a:blip r:embed="rId6">
            <a:alphaModFix/>
          </a:blip>
          <a:srcRect b="0" l="0" r="0" t="0"/>
          <a:stretch/>
        </p:blipFill>
        <p:spPr>
          <a:xfrm>
            <a:off x="6667500" y="2038350"/>
            <a:ext cx="190500" cy="190500"/>
          </a:xfrm>
          <a:prstGeom prst="rect">
            <a:avLst/>
          </a:prstGeom>
          <a:noFill/>
          <a:ln>
            <a:noFill/>
          </a:ln>
        </p:spPr>
      </p:pic>
      <p:pic>
        <p:nvPicPr>
          <p:cNvPr descr="preencoded.png" id="166" name="Google Shape;166;p6"/>
          <p:cNvPicPr preferRelativeResize="0"/>
          <p:nvPr/>
        </p:nvPicPr>
        <p:blipFill rotWithShape="1">
          <a:blip r:embed="rId11">
            <a:alphaModFix/>
          </a:blip>
          <a:srcRect b="0" l="0" r="0" t="0"/>
          <a:stretch/>
        </p:blipFill>
        <p:spPr>
          <a:xfrm>
            <a:off x="6575325" y="2295525"/>
            <a:ext cx="381000" cy="381000"/>
          </a:xfrm>
          <a:prstGeom prst="rect">
            <a:avLst/>
          </a:prstGeom>
          <a:noFill/>
          <a:ln>
            <a:noFill/>
          </a:ln>
        </p:spPr>
      </p:pic>
      <p:pic>
        <p:nvPicPr>
          <p:cNvPr descr="preencoded.png" id="167" name="Google Shape;167;p6"/>
          <p:cNvPicPr preferRelativeResize="0"/>
          <p:nvPr/>
        </p:nvPicPr>
        <p:blipFill rotWithShape="1">
          <a:blip r:embed="rId12">
            <a:alphaModFix/>
          </a:blip>
          <a:srcRect b="0" l="0" r="0" t="0"/>
          <a:stretch/>
        </p:blipFill>
        <p:spPr>
          <a:xfrm>
            <a:off x="6686550" y="2414588"/>
            <a:ext cx="152400" cy="152400"/>
          </a:xfrm>
          <a:prstGeom prst="rect">
            <a:avLst/>
          </a:prstGeom>
          <a:noFill/>
          <a:ln>
            <a:noFill/>
          </a:ln>
        </p:spPr>
      </p:pic>
      <p:pic>
        <p:nvPicPr>
          <p:cNvPr descr="preencoded.png" id="168" name="Google Shape;168;p6"/>
          <p:cNvPicPr preferRelativeResize="0"/>
          <p:nvPr/>
        </p:nvPicPr>
        <p:blipFill rotWithShape="1">
          <a:blip r:embed="rId13">
            <a:alphaModFix/>
          </a:blip>
          <a:srcRect b="0" l="0" r="0" t="0"/>
          <a:stretch/>
        </p:blipFill>
        <p:spPr>
          <a:xfrm>
            <a:off x="9623325" y="2428875"/>
            <a:ext cx="190500" cy="190500"/>
          </a:xfrm>
          <a:prstGeom prst="rect">
            <a:avLst/>
          </a:prstGeom>
          <a:noFill/>
          <a:ln>
            <a:noFill/>
          </a:ln>
        </p:spPr>
      </p:pic>
      <p:pic>
        <p:nvPicPr>
          <p:cNvPr descr="preencoded.png" id="169" name="Google Shape;169;p6"/>
          <p:cNvPicPr preferRelativeResize="0"/>
          <p:nvPr/>
        </p:nvPicPr>
        <p:blipFill rotWithShape="1">
          <a:blip r:embed="rId14">
            <a:alphaModFix/>
          </a:blip>
          <a:srcRect b="0" l="0" r="0" t="0"/>
          <a:stretch/>
        </p:blipFill>
        <p:spPr>
          <a:xfrm>
            <a:off x="9432825" y="2790825"/>
            <a:ext cx="381000" cy="381000"/>
          </a:xfrm>
          <a:prstGeom prst="rect">
            <a:avLst/>
          </a:prstGeom>
          <a:noFill/>
          <a:ln>
            <a:noFill/>
          </a:ln>
        </p:spPr>
      </p:pic>
      <p:pic>
        <p:nvPicPr>
          <p:cNvPr descr="preencoded.png" id="170" name="Google Shape;170;p6"/>
          <p:cNvPicPr preferRelativeResize="0"/>
          <p:nvPr/>
        </p:nvPicPr>
        <p:blipFill rotWithShape="1">
          <a:blip r:embed="rId15">
            <a:alphaModFix/>
          </a:blip>
          <a:srcRect b="0" l="0" r="0" t="0"/>
          <a:stretch/>
        </p:blipFill>
        <p:spPr>
          <a:xfrm>
            <a:off x="9547125" y="2905125"/>
            <a:ext cx="152400" cy="152400"/>
          </a:xfrm>
          <a:prstGeom prst="rect">
            <a:avLst/>
          </a:prstGeom>
          <a:noFill/>
          <a:ln>
            <a:noFill/>
          </a:ln>
        </p:spPr>
      </p:pic>
      <p:pic>
        <p:nvPicPr>
          <p:cNvPr descr="preencoded.png" id="171" name="Google Shape;171;p6"/>
          <p:cNvPicPr preferRelativeResize="0"/>
          <p:nvPr/>
        </p:nvPicPr>
        <p:blipFill rotWithShape="1">
          <a:blip r:embed="rId16">
            <a:alphaModFix/>
          </a:blip>
          <a:srcRect b="0" l="0" r="0" t="0"/>
          <a:stretch/>
        </p:blipFill>
        <p:spPr>
          <a:xfrm>
            <a:off x="381000" y="4114800"/>
            <a:ext cx="3708350" cy="819150"/>
          </a:xfrm>
          <a:prstGeom prst="rect">
            <a:avLst/>
          </a:prstGeom>
          <a:noFill/>
          <a:ln>
            <a:noFill/>
          </a:ln>
        </p:spPr>
      </p:pic>
      <p:pic>
        <p:nvPicPr>
          <p:cNvPr descr="preencoded.png" id="172" name="Google Shape;172;p6"/>
          <p:cNvPicPr preferRelativeResize="0"/>
          <p:nvPr/>
        </p:nvPicPr>
        <p:blipFill rotWithShape="1">
          <a:blip r:embed="rId17">
            <a:alphaModFix/>
          </a:blip>
          <a:srcRect b="0" l="0" r="0" t="0"/>
          <a:stretch/>
        </p:blipFill>
        <p:spPr>
          <a:xfrm>
            <a:off x="523875" y="4295775"/>
            <a:ext cx="152400" cy="152400"/>
          </a:xfrm>
          <a:prstGeom prst="rect">
            <a:avLst/>
          </a:prstGeom>
          <a:noFill/>
          <a:ln>
            <a:noFill/>
          </a:ln>
        </p:spPr>
      </p:pic>
      <p:pic>
        <p:nvPicPr>
          <p:cNvPr descr="preencoded.png" id="173" name="Google Shape;173;p6"/>
          <p:cNvPicPr preferRelativeResize="0"/>
          <p:nvPr/>
        </p:nvPicPr>
        <p:blipFill rotWithShape="1">
          <a:blip r:embed="rId18">
            <a:alphaModFix/>
          </a:blip>
          <a:srcRect b="0" l="0" r="0" t="0"/>
          <a:stretch/>
        </p:blipFill>
        <p:spPr>
          <a:xfrm>
            <a:off x="4241750" y="4114800"/>
            <a:ext cx="3708350" cy="819150"/>
          </a:xfrm>
          <a:prstGeom prst="rect">
            <a:avLst/>
          </a:prstGeom>
          <a:noFill/>
          <a:ln>
            <a:noFill/>
          </a:ln>
        </p:spPr>
      </p:pic>
      <p:pic>
        <p:nvPicPr>
          <p:cNvPr descr="preencoded.png" id="174" name="Google Shape;174;p6"/>
          <p:cNvPicPr preferRelativeResize="0"/>
          <p:nvPr/>
        </p:nvPicPr>
        <p:blipFill rotWithShape="1">
          <a:blip r:embed="rId17">
            <a:alphaModFix/>
          </a:blip>
          <a:srcRect b="0" l="0" r="0" t="0"/>
          <a:stretch/>
        </p:blipFill>
        <p:spPr>
          <a:xfrm>
            <a:off x="4384625" y="4295775"/>
            <a:ext cx="152400" cy="152400"/>
          </a:xfrm>
          <a:prstGeom prst="rect">
            <a:avLst/>
          </a:prstGeom>
          <a:noFill/>
          <a:ln>
            <a:noFill/>
          </a:ln>
        </p:spPr>
      </p:pic>
      <p:pic>
        <p:nvPicPr>
          <p:cNvPr descr="preencoded.png" id="175" name="Google Shape;175;p6"/>
          <p:cNvPicPr preferRelativeResize="0"/>
          <p:nvPr/>
        </p:nvPicPr>
        <p:blipFill rotWithShape="1">
          <a:blip r:embed="rId19">
            <a:alphaModFix/>
          </a:blip>
          <a:srcRect b="0" l="0" r="0" t="0"/>
          <a:stretch/>
        </p:blipFill>
        <p:spPr>
          <a:xfrm>
            <a:off x="8102501" y="4114800"/>
            <a:ext cx="3708499" cy="819150"/>
          </a:xfrm>
          <a:prstGeom prst="rect">
            <a:avLst/>
          </a:prstGeom>
          <a:noFill/>
          <a:ln>
            <a:noFill/>
          </a:ln>
        </p:spPr>
      </p:pic>
      <p:pic>
        <p:nvPicPr>
          <p:cNvPr descr="preencoded.png" id="176" name="Google Shape;176;p6"/>
          <p:cNvPicPr preferRelativeResize="0"/>
          <p:nvPr/>
        </p:nvPicPr>
        <p:blipFill rotWithShape="1">
          <a:blip r:embed="rId17">
            <a:alphaModFix/>
          </a:blip>
          <a:srcRect b="0" l="0" r="0" t="0"/>
          <a:stretch/>
        </p:blipFill>
        <p:spPr>
          <a:xfrm>
            <a:off x="8245376" y="4295775"/>
            <a:ext cx="152400" cy="152400"/>
          </a:xfrm>
          <a:prstGeom prst="rect">
            <a:avLst/>
          </a:prstGeom>
          <a:noFill/>
          <a:ln>
            <a:noFill/>
          </a:ln>
        </p:spPr>
      </p:pic>
      <p:sp>
        <p:nvSpPr>
          <p:cNvPr id="177" name="Google Shape;177;p6"/>
          <p:cNvSpPr/>
          <p:nvPr/>
        </p:nvSpPr>
        <p:spPr>
          <a:xfrm>
            <a:off x="381000" y="209550"/>
            <a:ext cx="6324600" cy="3429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FFFFF"/>
              </a:buClr>
              <a:buSzPts val="2250"/>
              <a:buFont typeface="Arial"/>
              <a:buNone/>
            </a:pPr>
            <a:r>
              <a:rPr b="1" lang="en-US" sz="2250">
                <a:solidFill>
                  <a:srgbClr val="FFFFFF"/>
                </a:solidFill>
                <a:latin typeface="Arial"/>
                <a:ea typeface="Arial"/>
                <a:cs typeface="Arial"/>
                <a:sym typeface="Arial"/>
              </a:rPr>
              <a:t>Project Roadmap</a:t>
            </a:r>
            <a:endParaRPr sz="2250">
              <a:solidFill>
                <a:schemeClr val="dk1"/>
              </a:solidFill>
              <a:latin typeface="Calibri"/>
              <a:ea typeface="Calibri"/>
              <a:cs typeface="Calibri"/>
              <a:sym typeface="Calibri"/>
            </a:endParaRPr>
          </a:p>
        </p:txBody>
      </p:sp>
      <p:sp>
        <p:nvSpPr>
          <p:cNvPr id="178" name="Google Shape;178;p6"/>
          <p:cNvSpPr/>
          <p:nvPr/>
        </p:nvSpPr>
        <p:spPr>
          <a:xfrm>
            <a:off x="288825" y="1026313"/>
            <a:ext cx="11430000" cy="266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F2937"/>
              </a:buClr>
              <a:buSzPts val="1500"/>
              <a:buFont typeface="Arial"/>
              <a:buNone/>
            </a:pPr>
            <a:r>
              <a:rPr b="1" lang="en-US" sz="1600">
                <a:solidFill>
                  <a:srgbClr val="1F2937"/>
                </a:solidFill>
                <a:latin typeface="Arial"/>
                <a:ea typeface="Arial"/>
                <a:cs typeface="Arial"/>
                <a:sym typeface="Arial"/>
              </a:rPr>
              <a:t>Project Timeline </a:t>
            </a:r>
            <a:endParaRPr sz="1600">
              <a:solidFill>
                <a:schemeClr val="dk1"/>
              </a:solidFill>
              <a:latin typeface="Calibri"/>
              <a:ea typeface="Calibri"/>
              <a:cs typeface="Calibri"/>
              <a:sym typeface="Calibri"/>
            </a:endParaRPr>
          </a:p>
        </p:txBody>
      </p:sp>
      <p:sp>
        <p:nvSpPr>
          <p:cNvPr id="179" name="Google Shape;179;p6"/>
          <p:cNvSpPr/>
          <p:nvPr/>
        </p:nvSpPr>
        <p:spPr>
          <a:xfrm>
            <a:off x="288825" y="1495425"/>
            <a:ext cx="13716000" cy="2286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374151"/>
              </a:buClr>
              <a:buSzPts val="1200"/>
              <a:buFont typeface="Arial"/>
              <a:buNone/>
            </a:pPr>
            <a:r>
              <a:rPr lang="en-US" sz="1500">
                <a:latin typeface="Times New Roman"/>
                <a:ea typeface="Times New Roman"/>
                <a:cs typeface="Times New Roman"/>
                <a:sym typeface="Times New Roman"/>
              </a:rPr>
              <a:t>A phased approach to building the Cognitive Architecture, moving from theoretical design to a fully autonomous MVP.</a:t>
            </a:r>
            <a:endParaRPr sz="1500">
              <a:latin typeface="Times New Roman"/>
              <a:ea typeface="Times New Roman"/>
              <a:cs typeface="Times New Roman"/>
              <a:sym typeface="Times New Roman"/>
            </a:endParaRPr>
          </a:p>
        </p:txBody>
      </p:sp>
      <p:sp>
        <p:nvSpPr>
          <p:cNvPr id="180" name="Google Shape;180;p6"/>
          <p:cNvSpPr/>
          <p:nvPr/>
        </p:nvSpPr>
        <p:spPr>
          <a:xfrm>
            <a:off x="98325" y="2752725"/>
            <a:ext cx="1905000" cy="228600"/>
          </a:xfrm>
          <a:prstGeom prst="rect">
            <a:avLst/>
          </a:prstGeom>
          <a:noFill/>
          <a:ln>
            <a:noFill/>
          </a:ln>
        </p:spPr>
        <p:txBody>
          <a:bodyPr anchorCtr="0" anchor="t" bIns="0" lIns="0" spcFirstLastPara="1" rIns="0" wrap="square" tIns="0">
            <a:noAutofit/>
          </a:bodyPr>
          <a:lstStyle/>
          <a:p>
            <a:pPr indent="0" lvl="0" marL="0" marR="0" rtl="0" algn="ctr">
              <a:lnSpc>
                <a:spcPct val="150000"/>
              </a:lnSpc>
              <a:spcBef>
                <a:spcPts val="0"/>
              </a:spcBef>
              <a:spcAft>
                <a:spcPts val="0"/>
              </a:spcAft>
              <a:buClr>
                <a:srgbClr val="000000"/>
              </a:buClr>
              <a:buSzPts val="1200"/>
              <a:buFont typeface="Arial"/>
              <a:buNone/>
            </a:pPr>
            <a:r>
              <a:rPr b="1" lang="en-US" sz="1200">
                <a:solidFill>
                  <a:srgbClr val="000000"/>
                </a:solidFill>
                <a:latin typeface="Arial"/>
                <a:ea typeface="Arial"/>
                <a:cs typeface="Arial"/>
                <a:sym typeface="Arial"/>
              </a:rPr>
              <a:t>Current</a:t>
            </a:r>
            <a:endParaRPr sz="1200">
              <a:solidFill>
                <a:schemeClr val="dk1"/>
              </a:solidFill>
              <a:latin typeface="Calibri"/>
              <a:ea typeface="Calibri"/>
              <a:cs typeface="Calibri"/>
              <a:sym typeface="Calibri"/>
            </a:endParaRPr>
          </a:p>
        </p:txBody>
      </p:sp>
      <p:sp>
        <p:nvSpPr>
          <p:cNvPr id="181" name="Google Shape;181;p6"/>
          <p:cNvSpPr/>
          <p:nvPr/>
        </p:nvSpPr>
        <p:spPr>
          <a:xfrm>
            <a:off x="98325" y="2981325"/>
            <a:ext cx="1905000" cy="190500"/>
          </a:xfrm>
          <a:prstGeom prst="rect">
            <a:avLst/>
          </a:prstGeom>
          <a:noFill/>
          <a:ln>
            <a:noFill/>
          </a:ln>
        </p:spPr>
        <p:txBody>
          <a:bodyPr anchorCtr="0" anchor="t" bIns="0" lIns="0" spcFirstLastPara="1" rIns="0" wrap="square" tIns="0">
            <a:noAutofit/>
          </a:bodyPr>
          <a:lstStyle/>
          <a:p>
            <a:pPr indent="0" lvl="0" marL="0" marR="0" rtl="0" algn="ctr">
              <a:lnSpc>
                <a:spcPct val="142857"/>
              </a:lnSpc>
              <a:spcBef>
                <a:spcPts val="0"/>
              </a:spcBef>
              <a:spcAft>
                <a:spcPts val="0"/>
              </a:spcAft>
              <a:buClr>
                <a:srgbClr val="4B5563"/>
              </a:buClr>
              <a:buSzPts val="1050"/>
              <a:buFont typeface="Arial"/>
              <a:buNone/>
            </a:pPr>
            <a:r>
              <a:rPr lang="en-US" sz="1050">
                <a:solidFill>
                  <a:srgbClr val="4B5563"/>
                </a:solidFill>
                <a:latin typeface="Arial"/>
                <a:ea typeface="Arial"/>
                <a:cs typeface="Arial"/>
                <a:sym typeface="Arial"/>
              </a:rPr>
              <a:t>Week </a:t>
            </a:r>
            <a:r>
              <a:rPr lang="en-US" sz="1050">
                <a:solidFill>
                  <a:srgbClr val="4B5563"/>
                </a:solidFill>
              </a:rPr>
              <a:t>10</a:t>
            </a:r>
            <a:endParaRPr sz="1050">
              <a:solidFill>
                <a:schemeClr val="dk1"/>
              </a:solidFill>
              <a:latin typeface="Calibri"/>
              <a:ea typeface="Calibri"/>
              <a:cs typeface="Calibri"/>
              <a:sym typeface="Calibri"/>
            </a:endParaRPr>
          </a:p>
        </p:txBody>
      </p:sp>
      <p:sp>
        <p:nvSpPr>
          <p:cNvPr id="182" name="Google Shape;182;p6"/>
          <p:cNvSpPr/>
          <p:nvPr/>
        </p:nvSpPr>
        <p:spPr>
          <a:xfrm>
            <a:off x="2955825" y="3248025"/>
            <a:ext cx="1905000" cy="228600"/>
          </a:xfrm>
          <a:prstGeom prst="rect">
            <a:avLst/>
          </a:prstGeom>
          <a:noFill/>
          <a:ln>
            <a:noFill/>
          </a:ln>
        </p:spPr>
        <p:txBody>
          <a:bodyPr anchorCtr="0" anchor="t" bIns="0" lIns="0" spcFirstLastPara="1" rIns="0" wrap="square" tIns="0">
            <a:noAutofit/>
          </a:bodyPr>
          <a:lstStyle/>
          <a:p>
            <a:pPr indent="0" lvl="0" marL="0" marR="0" rtl="0" algn="ctr">
              <a:lnSpc>
                <a:spcPct val="150000"/>
              </a:lnSpc>
              <a:spcBef>
                <a:spcPts val="0"/>
              </a:spcBef>
              <a:spcAft>
                <a:spcPts val="0"/>
              </a:spcAft>
              <a:buClr>
                <a:srgbClr val="000000"/>
              </a:buClr>
              <a:buSzPts val="1200"/>
              <a:buFont typeface="Arial"/>
              <a:buNone/>
            </a:pPr>
            <a:r>
              <a:rPr b="1" lang="en-US" sz="1200">
                <a:solidFill>
                  <a:srgbClr val="000000"/>
                </a:solidFill>
                <a:latin typeface="Arial"/>
                <a:ea typeface="Arial"/>
                <a:cs typeface="Arial"/>
                <a:sym typeface="Arial"/>
              </a:rPr>
              <a:t>Phase 1</a:t>
            </a:r>
            <a:endParaRPr sz="1200">
              <a:solidFill>
                <a:schemeClr val="dk1"/>
              </a:solidFill>
              <a:latin typeface="Calibri"/>
              <a:ea typeface="Calibri"/>
              <a:cs typeface="Calibri"/>
              <a:sym typeface="Calibri"/>
            </a:endParaRPr>
          </a:p>
        </p:txBody>
      </p:sp>
      <p:sp>
        <p:nvSpPr>
          <p:cNvPr id="183" name="Google Shape;183;p6"/>
          <p:cNvSpPr/>
          <p:nvPr/>
        </p:nvSpPr>
        <p:spPr>
          <a:xfrm>
            <a:off x="2955825" y="3476625"/>
            <a:ext cx="1905000" cy="190500"/>
          </a:xfrm>
          <a:prstGeom prst="rect">
            <a:avLst/>
          </a:prstGeom>
          <a:noFill/>
          <a:ln>
            <a:noFill/>
          </a:ln>
        </p:spPr>
        <p:txBody>
          <a:bodyPr anchorCtr="0" anchor="t" bIns="0" lIns="0" spcFirstLastPara="1" rIns="0" wrap="square" tIns="0">
            <a:noAutofit/>
          </a:bodyPr>
          <a:lstStyle/>
          <a:p>
            <a:pPr indent="0" lvl="0" marL="0" marR="0" rtl="0" algn="ctr">
              <a:lnSpc>
                <a:spcPct val="142857"/>
              </a:lnSpc>
              <a:spcBef>
                <a:spcPts val="0"/>
              </a:spcBef>
              <a:spcAft>
                <a:spcPts val="0"/>
              </a:spcAft>
              <a:buClr>
                <a:srgbClr val="4B5563"/>
              </a:buClr>
              <a:buSzPts val="1050"/>
              <a:buFont typeface="Arial"/>
              <a:buNone/>
            </a:pPr>
            <a:r>
              <a:rPr lang="en-US" sz="1050">
                <a:solidFill>
                  <a:srgbClr val="4B5563"/>
                </a:solidFill>
                <a:latin typeface="Arial"/>
                <a:ea typeface="Arial"/>
                <a:cs typeface="Arial"/>
                <a:sym typeface="Arial"/>
              </a:rPr>
              <a:t>Development</a:t>
            </a:r>
            <a:endParaRPr sz="1050">
              <a:solidFill>
                <a:schemeClr val="dk1"/>
              </a:solidFill>
              <a:latin typeface="Calibri"/>
              <a:ea typeface="Calibri"/>
              <a:cs typeface="Calibri"/>
              <a:sym typeface="Calibri"/>
            </a:endParaRPr>
          </a:p>
        </p:txBody>
      </p:sp>
      <p:sp>
        <p:nvSpPr>
          <p:cNvPr id="184" name="Google Shape;184;p6"/>
          <p:cNvSpPr/>
          <p:nvPr/>
        </p:nvSpPr>
        <p:spPr>
          <a:xfrm>
            <a:off x="5813325" y="2752725"/>
            <a:ext cx="1905000" cy="228600"/>
          </a:xfrm>
          <a:prstGeom prst="rect">
            <a:avLst/>
          </a:prstGeom>
          <a:noFill/>
          <a:ln>
            <a:noFill/>
          </a:ln>
        </p:spPr>
        <p:txBody>
          <a:bodyPr anchorCtr="0" anchor="t" bIns="0" lIns="0" spcFirstLastPara="1" rIns="0" wrap="square" tIns="0">
            <a:noAutofit/>
          </a:bodyPr>
          <a:lstStyle/>
          <a:p>
            <a:pPr indent="0" lvl="0" marL="0" marR="0" rtl="0" algn="ctr">
              <a:lnSpc>
                <a:spcPct val="150000"/>
              </a:lnSpc>
              <a:spcBef>
                <a:spcPts val="0"/>
              </a:spcBef>
              <a:spcAft>
                <a:spcPts val="0"/>
              </a:spcAft>
              <a:buClr>
                <a:srgbClr val="000000"/>
              </a:buClr>
              <a:buSzPts val="1200"/>
              <a:buFont typeface="Arial"/>
              <a:buNone/>
            </a:pPr>
            <a:r>
              <a:rPr b="1" lang="en-US" sz="1200">
                <a:solidFill>
                  <a:srgbClr val="000000"/>
                </a:solidFill>
                <a:latin typeface="Arial"/>
                <a:ea typeface="Arial"/>
                <a:cs typeface="Arial"/>
                <a:sym typeface="Arial"/>
              </a:rPr>
              <a:t>Phase 2</a:t>
            </a:r>
            <a:endParaRPr sz="1200">
              <a:solidFill>
                <a:schemeClr val="dk1"/>
              </a:solidFill>
              <a:latin typeface="Calibri"/>
              <a:ea typeface="Calibri"/>
              <a:cs typeface="Calibri"/>
              <a:sym typeface="Calibri"/>
            </a:endParaRPr>
          </a:p>
        </p:txBody>
      </p:sp>
      <p:sp>
        <p:nvSpPr>
          <p:cNvPr id="185" name="Google Shape;185;p6"/>
          <p:cNvSpPr/>
          <p:nvPr/>
        </p:nvSpPr>
        <p:spPr>
          <a:xfrm>
            <a:off x="5810250" y="3043238"/>
            <a:ext cx="1905000" cy="190500"/>
          </a:xfrm>
          <a:prstGeom prst="rect">
            <a:avLst/>
          </a:prstGeom>
          <a:noFill/>
          <a:ln>
            <a:noFill/>
          </a:ln>
        </p:spPr>
        <p:txBody>
          <a:bodyPr anchorCtr="0" anchor="t" bIns="0" lIns="0" spcFirstLastPara="1" rIns="0" wrap="square" tIns="0">
            <a:noAutofit/>
          </a:bodyPr>
          <a:lstStyle/>
          <a:p>
            <a:pPr indent="0" lvl="0" marL="0" marR="0" rtl="0" algn="ctr">
              <a:lnSpc>
                <a:spcPct val="142857"/>
              </a:lnSpc>
              <a:spcBef>
                <a:spcPts val="0"/>
              </a:spcBef>
              <a:spcAft>
                <a:spcPts val="0"/>
              </a:spcAft>
              <a:buClr>
                <a:srgbClr val="4B5563"/>
              </a:buClr>
              <a:buSzPts val="1050"/>
              <a:buFont typeface="Arial"/>
              <a:buNone/>
            </a:pPr>
            <a:r>
              <a:rPr lang="en-US" sz="1050">
                <a:solidFill>
                  <a:srgbClr val="4B5563"/>
                </a:solidFill>
                <a:latin typeface="Arial"/>
                <a:ea typeface="Arial"/>
                <a:cs typeface="Arial"/>
                <a:sym typeface="Arial"/>
              </a:rPr>
              <a:t>Testing</a:t>
            </a:r>
            <a:endParaRPr sz="1050">
              <a:solidFill>
                <a:schemeClr val="dk1"/>
              </a:solidFill>
              <a:latin typeface="Calibri"/>
              <a:ea typeface="Calibri"/>
              <a:cs typeface="Calibri"/>
              <a:sym typeface="Calibri"/>
            </a:endParaRPr>
          </a:p>
        </p:txBody>
      </p:sp>
      <p:sp>
        <p:nvSpPr>
          <p:cNvPr id="186" name="Google Shape;186;p6"/>
          <p:cNvSpPr/>
          <p:nvPr/>
        </p:nvSpPr>
        <p:spPr>
          <a:xfrm>
            <a:off x="8670825" y="3248025"/>
            <a:ext cx="1905000" cy="228600"/>
          </a:xfrm>
          <a:prstGeom prst="rect">
            <a:avLst/>
          </a:prstGeom>
          <a:noFill/>
          <a:ln>
            <a:noFill/>
          </a:ln>
        </p:spPr>
        <p:txBody>
          <a:bodyPr anchorCtr="0" anchor="t" bIns="0" lIns="0" spcFirstLastPara="1" rIns="0" wrap="square" tIns="0">
            <a:noAutofit/>
          </a:bodyPr>
          <a:lstStyle/>
          <a:p>
            <a:pPr indent="0" lvl="0" marL="0" marR="0" rtl="0" algn="ctr">
              <a:lnSpc>
                <a:spcPct val="150000"/>
              </a:lnSpc>
              <a:spcBef>
                <a:spcPts val="0"/>
              </a:spcBef>
              <a:spcAft>
                <a:spcPts val="0"/>
              </a:spcAft>
              <a:buClr>
                <a:srgbClr val="000000"/>
              </a:buClr>
              <a:buSzPts val="1200"/>
              <a:buFont typeface="Arial"/>
              <a:buNone/>
            </a:pPr>
            <a:r>
              <a:rPr b="1" lang="en-US" sz="1200">
                <a:solidFill>
                  <a:srgbClr val="000000"/>
                </a:solidFill>
                <a:latin typeface="Arial"/>
                <a:ea typeface="Arial"/>
                <a:cs typeface="Arial"/>
                <a:sym typeface="Arial"/>
              </a:rPr>
              <a:t>Phase 3</a:t>
            </a:r>
            <a:endParaRPr sz="1200">
              <a:solidFill>
                <a:schemeClr val="dk1"/>
              </a:solidFill>
              <a:latin typeface="Calibri"/>
              <a:ea typeface="Calibri"/>
              <a:cs typeface="Calibri"/>
              <a:sym typeface="Calibri"/>
            </a:endParaRPr>
          </a:p>
        </p:txBody>
      </p:sp>
      <p:sp>
        <p:nvSpPr>
          <p:cNvPr id="187" name="Google Shape;187;p6"/>
          <p:cNvSpPr/>
          <p:nvPr/>
        </p:nvSpPr>
        <p:spPr>
          <a:xfrm>
            <a:off x="8670825" y="3490900"/>
            <a:ext cx="1905000" cy="190500"/>
          </a:xfrm>
          <a:prstGeom prst="rect">
            <a:avLst/>
          </a:prstGeom>
          <a:noFill/>
          <a:ln>
            <a:noFill/>
          </a:ln>
        </p:spPr>
        <p:txBody>
          <a:bodyPr anchorCtr="0" anchor="t" bIns="0" lIns="0" spcFirstLastPara="1" rIns="0" wrap="square" tIns="0">
            <a:noAutofit/>
          </a:bodyPr>
          <a:lstStyle/>
          <a:p>
            <a:pPr indent="0" lvl="0" marL="0" marR="0" rtl="0" algn="ctr">
              <a:lnSpc>
                <a:spcPct val="142857"/>
              </a:lnSpc>
              <a:spcBef>
                <a:spcPts val="0"/>
              </a:spcBef>
              <a:spcAft>
                <a:spcPts val="0"/>
              </a:spcAft>
              <a:buClr>
                <a:srgbClr val="4B5563"/>
              </a:buClr>
              <a:buSzPts val="1050"/>
              <a:buFont typeface="Arial"/>
              <a:buNone/>
            </a:pPr>
            <a:r>
              <a:rPr lang="en-US" sz="1050">
                <a:solidFill>
                  <a:srgbClr val="4B5563"/>
                </a:solidFill>
                <a:latin typeface="Arial"/>
                <a:ea typeface="Arial"/>
                <a:cs typeface="Arial"/>
                <a:sym typeface="Arial"/>
              </a:rPr>
              <a:t>Launch</a:t>
            </a:r>
            <a:endParaRPr sz="1050">
              <a:solidFill>
                <a:schemeClr val="dk1"/>
              </a:solidFill>
              <a:latin typeface="Calibri"/>
              <a:ea typeface="Calibri"/>
              <a:cs typeface="Calibri"/>
              <a:sym typeface="Calibri"/>
            </a:endParaRPr>
          </a:p>
        </p:txBody>
      </p:sp>
      <p:sp>
        <p:nvSpPr>
          <p:cNvPr id="188" name="Google Shape;188;p6"/>
          <p:cNvSpPr/>
          <p:nvPr/>
        </p:nvSpPr>
        <p:spPr>
          <a:xfrm>
            <a:off x="381000" y="3733800"/>
            <a:ext cx="11430000" cy="266700"/>
          </a:xfrm>
          <a:prstGeom prst="rect">
            <a:avLst/>
          </a:prstGeom>
          <a:noFill/>
          <a:ln>
            <a:noFill/>
          </a:ln>
        </p:spPr>
        <p:txBody>
          <a:bodyPr anchorCtr="0" anchor="t" bIns="0" lIns="0" spcFirstLastPara="1" rIns="0" wrap="square" tIns="0">
            <a:noAutofit/>
          </a:bodyPr>
          <a:lstStyle/>
          <a:p>
            <a:pPr indent="0" lvl="0" marL="0" marR="0" rtl="0" algn="l">
              <a:lnSpc>
                <a:spcPct val="155555"/>
              </a:lnSpc>
              <a:spcBef>
                <a:spcPts val="0"/>
              </a:spcBef>
              <a:spcAft>
                <a:spcPts val="0"/>
              </a:spcAft>
              <a:buClr>
                <a:srgbClr val="1F2937"/>
              </a:buClr>
              <a:buSzPts val="1350"/>
              <a:buFont typeface="Arial"/>
              <a:buNone/>
            </a:pPr>
            <a:r>
              <a:rPr b="1" lang="en-US" sz="1350">
                <a:solidFill>
                  <a:srgbClr val="1F2937"/>
                </a:solidFill>
                <a:latin typeface="Arial"/>
                <a:ea typeface="Arial"/>
                <a:cs typeface="Arial"/>
                <a:sym typeface="Arial"/>
              </a:rPr>
              <a:t>Key Milestones</a:t>
            </a:r>
            <a:endParaRPr sz="1350">
              <a:solidFill>
                <a:schemeClr val="dk1"/>
              </a:solidFill>
              <a:latin typeface="Calibri"/>
              <a:ea typeface="Calibri"/>
              <a:cs typeface="Calibri"/>
              <a:sym typeface="Calibri"/>
            </a:endParaRPr>
          </a:p>
        </p:txBody>
      </p:sp>
      <p:sp>
        <p:nvSpPr>
          <p:cNvPr id="189" name="Google Shape;189;p6"/>
          <p:cNvSpPr/>
          <p:nvPr/>
        </p:nvSpPr>
        <p:spPr>
          <a:xfrm>
            <a:off x="752475" y="4257675"/>
            <a:ext cx="1213545" cy="2286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000000"/>
              </a:buClr>
              <a:buSzPts val="1200"/>
              <a:buFont typeface="Arial"/>
              <a:buNone/>
            </a:pPr>
            <a:r>
              <a:rPr b="1" lang="en-US" sz="1200">
                <a:solidFill>
                  <a:srgbClr val="000000"/>
                </a:solidFill>
                <a:latin typeface="Arial"/>
                <a:ea typeface="Arial"/>
                <a:cs typeface="Arial"/>
                <a:sym typeface="Arial"/>
              </a:rPr>
              <a:t>Week 10-1</a:t>
            </a:r>
            <a:r>
              <a:rPr b="1" lang="en-US" sz="1200"/>
              <a:t>4</a:t>
            </a:r>
            <a:endParaRPr sz="1200">
              <a:solidFill>
                <a:schemeClr val="dk1"/>
              </a:solidFill>
              <a:latin typeface="Calibri"/>
              <a:ea typeface="Calibri"/>
              <a:cs typeface="Calibri"/>
              <a:sym typeface="Calibri"/>
            </a:endParaRPr>
          </a:p>
        </p:txBody>
      </p:sp>
      <p:sp>
        <p:nvSpPr>
          <p:cNvPr id="190" name="Google Shape;190;p6"/>
          <p:cNvSpPr/>
          <p:nvPr/>
        </p:nvSpPr>
        <p:spPr>
          <a:xfrm>
            <a:off x="523875" y="4562475"/>
            <a:ext cx="4107120" cy="2286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374151"/>
              </a:buClr>
              <a:buSzPts val="1200"/>
              <a:buFont typeface="Arial"/>
              <a:buNone/>
            </a:pPr>
            <a:r>
              <a:rPr lang="en-US" sz="1200">
                <a:solidFill>
                  <a:srgbClr val="374151"/>
                </a:solidFill>
                <a:latin typeface="Arial"/>
                <a:ea typeface="Arial"/>
                <a:cs typeface="Arial"/>
                <a:sym typeface="Arial"/>
              </a:rPr>
              <a:t>Requirements gathering and initial design</a:t>
            </a:r>
            <a:endParaRPr sz="1200">
              <a:solidFill>
                <a:schemeClr val="dk1"/>
              </a:solidFill>
              <a:latin typeface="Calibri"/>
              <a:ea typeface="Calibri"/>
              <a:cs typeface="Calibri"/>
              <a:sym typeface="Calibri"/>
            </a:endParaRPr>
          </a:p>
        </p:txBody>
      </p:sp>
      <p:sp>
        <p:nvSpPr>
          <p:cNvPr id="191" name="Google Shape;191;p6"/>
          <p:cNvSpPr/>
          <p:nvPr/>
        </p:nvSpPr>
        <p:spPr>
          <a:xfrm>
            <a:off x="4613225" y="4257675"/>
            <a:ext cx="1213545" cy="2286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000000"/>
              </a:buClr>
              <a:buSzPts val="1200"/>
              <a:buFont typeface="Arial"/>
              <a:buNone/>
            </a:pPr>
            <a:r>
              <a:rPr b="1" lang="en-US" sz="1200">
                <a:solidFill>
                  <a:srgbClr val="000000"/>
                </a:solidFill>
                <a:latin typeface="Arial"/>
                <a:ea typeface="Arial"/>
                <a:cs typeface="Arial"/>
                <a:sym typeface="Arial"/>
              </a:rPr>
              <a:t>Week 1</a:t>
            </a:r>
            <a:r>
              <a:rPr b="1" lang="en-US" sz="1200"/>
              <a:t>5</a:t>
            </a:r>
            <a:r>
              <a:rPr b="1" lang="en-US" sz="1200">
                <a:solidFill>
                  <a:srgbClr val="000000"/>
                </a:solidFill>
                <a:latin typeface="Arial"/>
                <a:ea typeface="Arial"/>
                <a:cs typeface="Arial"/>
                <a:sym typeface="Arial"/>
              </a:rPr>
              <a:t>-</a:t>
            </a:r>
            <a:r>
              <a:rPr b="1" lang="en-US" sz="1200"/>
              <a:t>22</a:t>
            </a:r>
            <a:endParaRPr sz="1200">
              <a:solidFill>
                <a:schemeClr val="dk1"/>
              </a:solidFill>
              <a:latin typeface="Calibri"/>
              <a:ea typeface="Calibri"/>
              <a:cs typeface="Calibri"/>
              <a:sym typeface="Calibri"/>
            </a:endParaRPr>
          </a:p>
        </p:txBody>
      </p:sp>
      <p:sp>
        <p:nvSpPr>
          <p:cNvPr id="192" name="Google Shape;192;p6"/>
          <p:cNvSpPr/>
          <p:nvPr/>
        </p:nvSpPr>
        <p:spPr>
          <a:xfrm>
            <a:off x="4384625" y="4562475"/>
            <a:ext cx="4107120" cy="2286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374151"/>
              </a:buClr>
              <a:buSzPts val="1200"/>
              <a:buFont typeface="Arial"/>
              <a:buNone/>
            </a:pPr>
            <a:r>
              <a:rPr lang="en-US" sz="1200">
                <a:solidFill>
                  <a:srgbClr val="374151"/>
                </a:solidFill>
                <a:latin typeface="Arial"/>
                <a:ea typeface="Arial"/>
                <a:cs typeface="Arial"/>
                <a:sym typeface="Arial"/>
              </a:rPr>
              <a:t>Development of core features</a:t>
            </a:r>
            <a:endParaRPr sz="1200">
              <a:solidFill>
                <a:schemeClr val="dk1"/>
              </a:solidFill>
              <a:latin typeface="Calibri"/>
              <a:ea typeface="Calibri"/>
              <a:cs typeface="Calibri"/>
              <a:sym typeface="Calibri"/>
            </a:endParaRPr>
          </a:p>
        </p:txBody>
      </p:sp>
      <p:sp>
        <p:nvSpPr>
          <p:cNvPr id="193" name="Google Shape;193;p6"/>
          <p:cNvSpPr/>
          <p:nvPr/>
        </p:nvSpPr>
        <p:spPr>
          <a:xfrm>
            <a:off x="8473976" y="4257675"/>
            <a:ext cx="1213545" cy="2286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000000"/>
              </a:buClr>
              <a:buSzPts val="1200"/>
              <a:buFont typeface="Arial"/>
              <a:buNone/>
            </a:pPr>
            <a:r>
              <a:rPr b="1" lang="en-US" sz="1200">
                <a:solidFill>
                  <a:srgbClr val="000000"/>
                </a:solidFill>
                <a:latin typeface="Arial"/>
                <a:ea typeface="Arial"/>
                <a:cs typeface="Arial"/>
                <a:sym typeface="Arial"/>
              </a:rPr>
              <a:t>Week </a:t>
            </a:r>
            <a:r>
              <a:rPr b="1" lang="en-US" sz="1200"/>
              <a:t>23</a:t>
            </a:r>
            <a:r>
              <a:rPr b="1" lang="en-US" sz="1200">
                <a:solidFill>
                  <a:srgbClr val="000000"/>
                </a:solidFill>
                <a:latin typeface="Arial"/>
                <a:ea typeface="Arial"/>
                <a:cs typeface="Arial"/>
                <a:sym typeface="Arial"/>
              </a:rPr>
              <a:t>-</a:t>
            </a:r>
            <a:r>
              <a:rPr b="1" lang="en-US" sz="1200"/>
              <a:t>26</a:t>
            </a:r>
            <a:endParaRPr sz="1200">
              <a:solidFill>
                <a:schemeClr val="dk1"/>
              </a:solidFill>
              <a:latin typeface="Calibri"/>
              <a:ea typeface="Calibri"/>
              <a:cs typeface="Calibri"/>
              <a:sym typeface="Calibri"/>
            </a:endParaRPr>
          </a:p>
        </p:txBody>
      </p:sp>
      <p:sp>
        <p:nvSpPr>
          <p:cNvPr id="194" name="Google Shape;194;p6"/>
          <p:cNvSpPr/>
          <p:nvPr/>
        </p:nvSpPr>
        <p:spPr>
          <a:xfrm>
            <a:off x="8245376" y="4562475"/>
            <a:ext cx="4107299" cy="2286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374151"/>
              </a:buClr>
              <a:buSzPts val="1200"/>
              <a:buFont typeface="Arial"/>
              <a:buNone/>
            </a:pPr>
            <a:r>
              <a:rPr lang="en-US" sz="1200">
                <a:solidFill>
                  <a:srgbClr val="374151"/>
                </a:solidFill>
                <a:latin typeface="Arial"/>
                <a:ea typeface="Arial"/>
                <a:cs typeface="Arial"/>
                <a:sym typeface="Arial"/>
              </a:rPr>
              <a:t>Testing and refinement</a:t>
            </a:r>
            <a:endParaRPr sz="1200">
              <a:solidFill>
                <a:schemeClr val="dk1"/>
              </a:solidFill>
              <a:latin typeface="Calibri"/>
              <a:ea typeface="Calibri"/>
              <a:cs typeface="Calibri"/>
              <a:sym typeface="Calibri"/>
            </a:endParaRPr>
          </a:p>
        </p:txBody>
      </p:sp>
      <p:pic>
        <p:nvPicPr>
          <p:cNvPr id="195" name="Google Shape;195;p6"/>
          <p:cNvPicPr preferRelativeResize="0"/>
          <p:nvPr/>
        </p:nvPicPr>
        <p:blipFill rotWithShape="1">
          <a:blip r:embed="rId20">
            <a:alphaModFix/>
          </a:blip>
          <a:srcRect b="0" l="0" r="0" t="0"/>
          <a:stretch/>
        </p:blipFill>
        <p:spPr>
          <a:xfrm>
            <a:off x="8451658" y="0"/>
            <a:ext cx="3740342" cy="762039"/>
          </a:xfrm>
          <a:prstGeom prst="rect">
            <a:avLst/>
          </a:prstGeom>
          <a:noFill/>
          <a:ln>
            <a:noFill/>
          </a:ln>
        </p:spPr>
      </p:pic>
      <p:pic>
        <p:nvPicPr>
          <p:cNvPr descr="preencoded.png" id="196" name="Google Shape;196;p6"/>
          <p:cNvPicPr preferRelativeResize="0"/>
          <p:nvPr/>
        </p:nvPicPr>
        <p:blipFill rotWithShape="1">
          <a:blip r:embed="rId21">
            <a:alphaModFix/>
          </a:blip>
          <a:srcRect b="0" l="0" r="0" t="0"/>
          <a:stretch/>
        </p:blipFill>
        <p:spPr>
          <a:xfrm>
            <a:off x="-75" y="776288"/>
            <a:ext cx="12191999" cy="476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pic>
        <p:nvPicPr>
          <p:cNvPr descr="preencoded.png" id="202" name="Google Shape;202;p7"/>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preencoded.png" id="203" name="Google Shape;203;p7"/>
          <p:cNvPicPr preferRelativeResize="0"/>
          <p:nvPr/>
        </p:nvPicPr>
        <p:blipFill rotWithShape="1">
          <a:blip r:embed="rId4">
            <a:alphaModFix/>
          </a:blip>
          <a:srcRect b="0" l="0" r="0" t="0"/>
          <a:stretch/>
        </p:blipFill>
        <p:spPr>
          <a:xfrm>
            <a:off x="0" y="0"/>
            <a:ext cx="12192000" cy="762000"/>
          </a:xfrm>
          <a:prstGeom prst="rect">
            <a:avLst/>
          </a:prstGeom>
          <a:noFill/>
          <a:ln>
            <a:noFill/>
          </a:ln>
        </p:spPr>
      </p:pic>
      <p:pic>
        <p:nvPicPr>
          <p:cNvPr descr="preencoded.png" id="204" name="Google Shape;204;p7"/>
          <p:cNvPicPr preferRelativeResize="0"/>
          <p:nvPr/>
        </p:nvPicPr>
        <p:blipFill rotWithShape="1">
          <a:blip r:embed="rId5">
            <a:alphaModFix/>
          </a:blip>
          <a:srcRect b="0" l="0" r="0" t="0"/>
          <a:stretch/>
        </p:blipFill>
        <p:spPr>
          <a:xfrm>
            <a:off x="0" y="762000"/>
            <a:ext cx="12192000" cy="47625"/>
          </a:xfrm>
          <a:prstGeom prst="rect">
            <a:avLst/>
          </a:prstGeom>
          <a:noFill/>
          <a:ln>
            <a:noFill/>
          </a:ln>
        </p:spPr>
      </p:pic>
      <p:pic>
        <p:nvPicPr>
          <p:cNvPr descr="preencoded.png" id="205" name="Google Shape;205;p7"/>
          <p:cNvPicPr preferRelativeResize="0"/>
          <p:nvPr/>
        </p:nvPicPr>
        <p:blipFill rotWithShape="1">
          <a:blip r:embed="rId6">
            <a:alphaModFix/>
          </a:blip>
          <a:srcRect b="0" l="0" r="0" t="0"/>
          <a:stretch/>
        </p:blipFill>
        <p:spPr>
          <a:xfrm>
            <a:off x="2286000" y="1876425"/>
            <a:ext cx="7620000" cy="2057400"/>
          </a:xfrm>
          <a:prstGeom prst="rect">
            <a:avLst/>
          </a:prstGeom>
          <a:noFill/>
          <a:ln>
            <a:noFill/>
          </a:ln>
        </p:spPr>
      </p:pic>
      <p:pic>
        <p:nvPicPr>
          <p:cNvPr descr="preencoded.png" id="206" name="Google Shape;206;p7"/>
          <p:cNvPicPr preferRelativeResize="0"/>
          <p:nvPr/>
        </p:nvPicPr>
        <p:blipFill rotWithShape="1">
          <a:blip r:embed="rId7">
            <a:alphaModFix/>
          </a:blip>
          <a:srcRect b="0" l="0" r="0" t="0"/>
          <a:stretch/>
        </p:blipFill>
        <p:spPr>
          <a:xfrm>
            <a:off x="2571750" y="2581275"/>
            <a:ext cx="381000" cy="381000"/>
          </a:xfrm>
          <a:prstGeom prst="rect">
            <a:avLst/>
          </a:prstGeom>
          <a:noFill/>
          <a:ln>
            <a:noFill/>
          </a:ln>
        </p:spPr>
      </p:pic>
      <p:pic>
        <p:nvPicPr>
          <p:cNvPr descr="preencoded.png" id="207" name="Google Shape;207;p7"/>
          <p:cNvPicPr preferRelativeResize="0"/>
          <p:nvPr/>
        </p:nvPicPr>
        <p:blipFill rotWithShape="1">
          <a:blip r:embed="rId8">
            <a:alphaModFix/>
          </a:blip>
          <a:srcRect b="0" l="0" r="0" t="0"/>
          <a:stretch/>
        </p:blipFill>
        <p:spPr>
          <a:xfrm>
            <a:off x="2686050" y="2695575"/>
            <a:ext cx="152400" cy="152400"/>
          </a:xfrm>
          <a:prstGeom prst="rect">
            <a:avLst/>
          </a:prstGeom>
          <a:noFill/>
          <a:ln>
            <a:noFill/>
          </a:ln>
        </p:spPr>
      </p:pic>
      <p:pic>
        <p:nvPicPr>
          <p:cNvPr descr="preencoded.png" id="208" name="Google Shape;208;p7"/>
          <p:cNvPicPr preferRelativeResize="0"/>
          <p:nvPr/>
        </p:nvPicPr>
        <p:blipFill rotWithShape="1">
          <a:blip r:embed="rId9">
            <a:alphaModFix/>
          </a:blip>
          <a:srcRect b="0" l="0" r="0" t="0"/>
          <a:stretch/>
        </p:blipFill>
        <p:spPr>
          <a:xfrm>
            <a:off x="2571750" y="3114675"/>
            <a:ext cx="381000" cy="381000"/>
          </a:xfrm>
          <a:prstGeom prst="rect">
            <a:avLst/>
          </a:prstGeom>
          <a:noFill/>
          <a:ln>
            <a:noFill/>
          </a:ln>
        </p:spPr>
      </p:pic>
      <p:pic>
        <p:nvPicPr>
          <p:cNvPr descr="preencoded.png" id="209" name="Google Shape;209;p7"/>
          <p:cNvPicPr preferRelativeResize="0"/>
          <p:nvPr/>
        </p:nvPicPr>
        <p:blipFill rotWithShape="1">
          <a:blip r:embed="rId10">
            <a:alphaModFix/>
          </a:blip>
          <a:srcRect b="0" l="0" r="0" t="0"/>
          <a:stretch/>
        </p:blipFill>
        <p:spPr>
          <a:xfrm>
            <a:off x="2686050" y="3228975"/>
            <a:ext cx="152400" cy="152400"/>
          </a:xfrm>
          <a:prstGeom prst="rect">
            <a:avLst/>
          </a:prstGeom>
          <a:noFill/>
          <a:ln>
            <a:noFill/>
          </a:ln>
        </p:spPr>
      </p:pic>
      <p:sp>
        <p:nvSpPr>
          <p:cNvPr id="210" name="Google Shape;210;p7"/>
          <p:cNvSpPr/>
          <p:nvPr/>
        </p:nvSpPr>
        <p:spPr>
          <a:xfrm>
            <a:off x="381000" y="209550"/>
            <a:ext cx="6324600" cy="3429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FFFFF"/>
              </a:buClr>
              <a:buSzPts val="2250"/>
              <a:buFont typeface="Arial"/>
              <a:buNone/>
            </a:pPr>
            <a:r>
              <a:rPr b="1" lang="en-US" sz="2250">
                <a:solidFill>
                  <a:srgbClr val="FFFFFF"/>
                </a:solidFill>
                <a:latin typeface="Arial"/>
                <a:ea typeface="Arial"/>
                <a:cs typeface="Arial"/>
                <a:sym typeface="Arial"/>
              </a:rPr>
              <a:t>Q&amp;A</a:t>
            </a:r>
            <a:endParaRPr sz="2250">
              <a:solidFill>
                <a:schemeClr val="dk1"/>
              </a:solidFill>
              <a:latin typeface="Calibri"/>
              <a:ea typeface="Calibri"/>
              <a:cs typeface="Calibri"/>
              <a:sym typeface="Calibri"/>
            </a:endParaRPr>
          </a:p>
        </p:txBody>
      </p:sp>
      <p:sp>
        <p:nvSpPr>
          <p:cNvPr id="211" name="Google Shape;211;p7"/>
          <p:cNvSpPr/>
          <p:nvPr/>
        </p:nvSpPr>
        <p:spPr>
          <a:xfrm>
            <a:off x="3292971" y="1190625"/>
            <a:ext cx="5606058" cy="381000"/>
          </a:xfrm>
          <a:prstGeom prst="rect">
            <a:avLst/>
          </a:prstGeom>
          <a:noFill/>
          <a:ln>
            <a:noFill/>
          </a:ln>
        </p:spPr>
        <p:txBody>
          <a:bodyPr anchorCtr="0" anchor="t" bIns="0" lIns="0" spcFirstLastPara="1" rIns="0" wrap="square" tIns="0">
            <a:noAutofit/>
          </a:bodyPr>
          <a:lstStyle/>
          <a:p>
            <a:pPr indent="0" lvl="0" marL="0" marR="0" rtl="0" algn="ctr">
              <a:lnSpc>
                <a:spcPct val="111111"/>
              </a:lnSpc>
              <a:spcBef>
                <a:spcPts val="0"/>
              </a:spcBef>
              <a:spcAft>
                <a:spcPts val="0"/>
              </a:spcAft>
              <a:buClr>
                <a:srgbClr val="000000"/>
              </a:buClr>
              <a:buSzPts val="2700"/>
              <a:buFont typeface="Arial"/>
              <a:buNone/>
            </a:pPr>
            <a:r>
              <a:rPr b="1" lang="en-US" sz="2700">
                <a:solidFill>
                  <a:srgbClr val="000000"/>
                </a:solidFill>
                <a:latin typeface="Arial"/>
                <a:ea typeface="Arial"/>
                <a:cs typeface="Arial"/>
                <a:sym typeface="Arial"/>
              </a:rPr>
              <a:t>Thank You &amp; Questions?</a:t>
            </a:r>
            <a:endParaRPr sz="2700">
              <a:solidFill>
                <a:schemeClr val="dk1"/>
              </a:solidFill>
              <a:latin typeface="Calibri"/>
              <a:ea typeface="Calibri"/>
              <a:cs typeface="Calibri"/>
              <a:sym typeface="Calibri"/>
            </a:endParaRPr>
          </a:p>
        </p:txBody>
      </p:sp>
      <p:sp>
        <p:nvSpPr>
          <p:cNvPr id="212" name="Google Shape;212;p7"/>
          <p:cNvSpPr/>
          <p:nvPr/>
        </p:nvSpPr>
        <p:spPr>
          <a:xfrm>
            <a:off x="2571750" y="2162175"/>
            <a:ext cx="7048500" cy="266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F2937"/>
              </a:buClr>
              <a:buSzPts val="1500"/>
              <a:buFont typeface="Arial"/>
              <a:buNone/>
            </a:pPr>
            <a:r>
              <a:rPr b="1" lang="en-US" sz="1500">
                <a:solidFill>
                  <a:srgbClr val="1F2937"/>
                </a:solidFill>
                <a:latin typeface="Arial"/>
                <a:ea typeface="Arial"/>
                <a:cs typeface="Arial"/>
                <a:sym typeface="Arial"/>
              </a:rPr>
              <a:t>Team Contact Information</a:t>
            </a:r>
            <a:endParaRPr sz="1500">
              <a:solidFill>
                <a:schemeClr val="dk1"/>
              </a:solidFill>
              <a:latin typeface="Calibri"/>
              <a:ea typeface="Calibri"/>
              <a:cs typeface="Calibri"/>
              <a:sym typeface="Calibri"/>
            </a:endParaRPr>
          </a:p>
        </p:txBody>
      </p:sp>
      <p:sp>
        <p:nvSpPr>
          <p:cNvPr id="213" name="Google Shape;213;p7"/>
          <p:cNvSpPr/>
          <p:nvPr/>
        </p:nvSpPr>
        <p:spPr>
          <a:xfrm>
            <a:off x="3095625" y="2695575"/>
            <a:ext cx="3692700" cy="2286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374151"/>
              </a:buClr>
              <a:buSzPts val="1200"/>
              <a:buFont typeface="Arial"/>
              <a:buNone/>
            </a:pPr>
            <a:r>
              <a:rPr lang="en-US" sz="1200">
                <a:solidFill>
                  <a:srgbClr val="374151"/>
                </a:solidFill>
              </a:rPr>
              <a:t>s-abdulrahman.elattar@zewailcity.edu.eg</a:t>
            </a:r>
            <a:endParaRPr sz="1200">
              <a:solidFill>
                <a:schemeClr val="dk1"/>
              </a:solidFill>
              <a:latin typeface="Calibri"/>
              <a:ea typeface="Calibri"/>
              <a:cs typeface="Calibri"/>
              <a:sym typeface="Calibri"/>
            </a:endParaRPr>
          </a:p>
        </p:txBody>
      </p:sp>
      <p:sp>
        <p:nvSpPr>
          <p:cNvPr id="214" name="Google Shape;214;p7"/>
          <p:cNvSpPr/>
          <p:nvPr/>
        </p:nvSpPr>
        <p:spPr>
          <a:xfrm>
            <a:off x="3095625" y="3190875"/>
            <a:ext cx="1607522" cy="2286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374151"/>
              </a:buClr>
              <a:buSzPts val="1200"/>
              <a:buFont typeface="Arial"/>
              <a:buNone/>
            </a:pPr>
            <a:r>
              <a:rPr lang="en-US" sz="1200">
                <a:solidFill>
                  <a:srgbClr val="374151"/>
                </a:solidFill>
              </a:rPr>
              <a:t>+201021780496</a:t>
            </a:r>
            <a:endParaRPr sz="1200">
              <a:solidFill>
                <a:schemeClr val="dk1"/>
              </a:solidFill>
              <a:latin typeface="Calibri"/>
              <a:ea typeface="Calibri"/>
              <a:cs typeface="Calibri"/>
              <a:sym typeface="Calibri"/>
            </a:endParaRPr>
          </a:p>
        </p:txBody>
      </p:sp>
      <p:sp>
        <p:nvSpPr>
          <p:cNvPr id="215" name="Google Shape;215;p7"/>
          <p:cNvSpPr/>
          <p:nvPr/>
        </p:nvSpPr>
        <p:spPr>
          <a:xfrm>
            <a:off x="3167077" y="4238625"/>
            <a:ext cx="5857696" cy="266700"/>
          </a:xfrm>
          <a:prstGeom prst="rect">
            <a:avLst/>
          </a:prstGeom>
          <a:noFill/>
          <a:ln>
            <a:noFill/>
          </a:ln>
        </p:spPr>
        <p:txBody>
          <a:bodyPr anchorCtr="0" anchor="t" bIns="0" lIns="0" spcFirstLastPara="1" rIns="0" wrap="square" tIns="0">
            <a:noAutofit/>
          </a:bodyPr>
          <a:lstStyle/>
          <a:p>
            <a:pPr indent="0" lvl="0" marL="0" marR="0" rtl="0" algn="ctr">
              <a:lnSpc>
                <a:spcPct val="155555"/>
              </a:lnSpc>
              <a:spcBef>
                <a:spcPts val="0"/>
              </a:spcBef>
              <a:spcAft>
                <a:spcPts val="0"/>
              </a:spcAft>
              <a:buClr>
                <a:srgbClr val="4B5563"/>
              </a:buClr>
              <a:buSzPts val="1350"/>
              <a:buFont typeface="Arial"/>
              <a:buNone/>
            </a:pPr>
            <a:r>
              <a:rPr lang="en-US" sz="1350">
                <a:solidFill>
                  <a:srgbClr val="4B5563"/>
                </a:solidFill>
                <a:latin typeface="Arial"/>
                <a:ea typeface="Arial"/>
                <a:cs typeface="Arial"/>
                <a:sym typeface="Arial"/>
              </a:rPr>
              <a:t>We welcome your feedback and insights</a:t>
            </a:r>
            <a:endParaRPr sz="1350">
              <a:solidFill>
                <a:schemeClr val="dk1"/>
              </a:solidFill>
              <a:latin typeface="Calibri"/>
              <a:ea typeface="Calibri"/>
              <a:cs typeface="Calibri"/>
              <a:sym typeface="Calibri"/>
            </a:endParaRPr>
          </a:p>
        </p:txBody>
      </p:sp>
      <p:sp>
        <p:nvSpPr>
          <p:cNvPr id="216" name="Google Shape;216;p7"/>
          <p:cNvSpPr/>
          <p:nvPr/>
        </p:nvSpPr>
        <p:spPr>
          <a:xfrm>
            <a:off x="3167077" y="4581525"/>
            <a:ext cx="5857696" cy="228600"/>
          </a:xfrm>
          <a:prstGeom prst="rect">
            <a:avLst/>
          </a:prstGeom>
          <a:noFill/>
          <a:ln>
            <a:noFill/>
          </a:ln>
        </p:spPr>
        <p:txBody>
          <a:bodyPr anchorCtr="0" anchor="t" bIns="0" lIns="0" spcFirstLastPara="1" rIns="0" wrap="square" tIns="0">
            <a:noAutofit/>
          </a:bodyPr>
          <a:lstStyle/>
          <a:p>
            <a:pPr indent="0" lvl="0" marL="0" marR="0" rtl="0" algn="ctr">
              <a:lnSpc>
                <a:spcPct val="150000"/>
              </a:lnSpc>
              <a:spcBef>
                <a:spcPts val="0"/>
              </a:spcBef>
              <a:spcAft>
                <a:spcPts val="0"/>
              </a:spcAft>
              <a:buClr>
                <a:srgbClr val="6B7280"/>
              </a:buClr>
              <a:buSzPts val="1200"/>
              <a:buFont typeface="Arial"/>
              <a:buNone/>
            </a:pPr>
            <a:r>
              <a:rPr lang="en-US" sz="1200">
                <a:solidFill>
                  <a:srgbClr val="6B7280"/>
                </a:solidFill>
                <a:latin typeface="Arial"/>
                <a:ea typeface="Arial"/>
                <a:cs typeface="Arial"/>
                <a:sym typeface="Arial"/>
              </a:rPr>
              <a:t>CSAI School | Zewail City of Science, Technology and Innovation</a:t>
            </a:r>
            <a:endParaRPr sz="1200">
              <a:solidFill>
                <a:schemeClr val="dk1"/>
              </a:solidFill>
              <a:latin typeface="Calibri"/>
              <a:ea typeface="Calibri"/>
              <a:cs typeface="Calibri"/>
              <a:sym typeface="Calibri"/>
            </a:endParaRPr>
          </a:p>
        </p:txBody>
      </p:sp>
      <p:pic>
        <p:nvPicPr>
          <p:cNvPr id="217" name="Google Shape;217;p7"/>
          <p:cNvPicPr preferRelativeResize="0"/>
          <p:nvPr/>
        </p:nvPicPr>
        <p:blipFill rotWithShape="1">
          <a:blip r:embed="rId11">
            <a:alphaModFix/>
          </a:blip>
          <a:srcRect b="0" l="0" r="0" t="0"/>
          <a:stretch/>
        </p:blipFill>
        <p:spPr>
          <a:xfrm>
            <a:off x="8451658" y="0"/>
            <a:ext cx="3740342" cy="76203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2025-11-03T16:40:12Z</dcterms:created>
  <dc:creator>PptxGenJS</dc:creator>
</cp:coreProperties>
</file>
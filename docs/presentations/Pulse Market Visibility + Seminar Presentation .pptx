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12192000"/>
  <p:embeddedFontLst>
    <p:embeddedFont>
      <p:font typeface="Montserrat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j4XD9BVgisVmhdqgmBb1GfbL/Z/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76D6DC1-81B6-44AC-90BA-8D701A4FF684}">
  <a:tblStyle styleId="{576D6DC1-81B6-44AC-90BA-8D701A4FF68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regular.fntdata"/><Relationship Id="rId14" Type="http://schemas.openxmlformats.org/officeDocument/2006/relationships/slide" Target="slides/slide9.xml"/><Relationship Id="rId17" Type="http://schemas.openxmlformats.org/officeDocument/2006/relationships/font" Target="fonts/Montserrat-italic.fntdata"/><Relationship Id="rId16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" name="Google Shape;70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78f71d699_0_116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a78f71d699_0_116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78f71d699_1_4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a78f71d699_1_4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0" name="Google Shape;200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3.png"/><Relationship Id="rId4" Type="http://schemas.openxmlformats.org/officeDocument/2006/relationships/image" Target="../media/image1.png"/><Relationship Id="rId11" Type="http://schemas.openxmlformats.org/officeDocument/2006/relationships/image" Target="../media/image5.png"/><Relationship Id="rId10" Type="http://schemas.openxmlformats.org/officeDocument/2006/relationships/image" Target="../media/image22.png"/><Relationship Id="rId9" Type="http://schemas.openxmlformats.org/officeDocument/2006/relationships/image" Target="../media/image12.png"/><Relationship Id="rId5" Type="http://schemas.openxmlformats.org/officeDocument/2006/relationships/image" Target="../media/image4.png"/><Relationship Id="rId6" Type="http://schemas.openxmlformats.org/officeDocument/2006/relationships/image" Target="../media/image13.png"/><Relationship Id="rId7" Type="http://schemas.openxmlformats.org/officeDocument/2006/relationships/image" Target="../media/image11.png"/><Relationship Id="rId8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2.png"/><Relationship Id="rId4" Type="http://schemas.openxmlformats.org/officeDocument/2006/relationships/image" Target="../media/image16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4.png"/><Relationship Id="rId4" Type="http://schemas.openxmlformats.org/officeDocument/2006/relationships/image" Target="../media/image37.png"/><Relationship Id="rId5" Type="http://schemas.openxmlformats.org/officeDocument/2006/relationships/image" Target="../media/image5.png"/><Relationship Id="rId6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2.png"/><Relationship Id="rId4" Type="http://schemas.openxmlformats.org/officeDocument/2006/relationships/image" Target="../media/image16.png"/><Relationship Id="rId5" Type="http://schemas.openxmlformats.org/officeDocument/2006/relationships/image" Target="../media/image5.png"/><Relationship Id="rId6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.png"/><Relationship Id="rId10" Type="http://schemas.openxmlformats.org/officeDocument/2006/relationships/image" Target="../media/image25.png"/><Relationship Id="rId13" Type="http://schemas.openxmlformats.org/officeDocument/2006/relationships/image" Target="../media/image49.png"/><Relationship Id="rId1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2.png"/><Relationship Id="rId4" Type="http://schemas.openxmlformats.org/officeDocument/2006/relationships/image" Target="../media/image16.png"/><Relationship Id="rId9" Type="http://schemas.openxmlformats.org/officeDocument/2006/relationships/image" Target="../media/image14.png"/><Relationship Id="rId15" Type="http://schemas.openxmlformats.org/officeDocument/2006/relationships/image" Target="../media/image5.png"/><Relationship Id="rId14" Type="http://schemas.openxmlformats.org/officeDocument/2006/relationships/image" Target="../media/image36.png"/><Relationship Id="rId16" Type="http://schemas.openxmlformats.org/officeDocument/2006/relationships/image" Target="../media/image8.png"/><Relationship Id="rId5" Type="http://schemas.openxmlformats.org/officeDocument/2006/relationships/image" Target="../media/image17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5.png"/><Relationship Id="rId5" Type="http://schemas.openxmlformats.org/officeDocument/2006/relationships/image" Target="../media/image20.jpg"/><Relationship Id="rId6" Type="http://schemas.openxmlformats.org/officeDocument/2006/relationships/image" Target="../media/image26.jpg"/><Relationship Id="rId7" Type="http://schemas.openxmlformats.org/officeDocument/2006/relationships/image" Target="../media/image2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5.png"/><Relationship Id="rId5" Type="http://schemas.openxmlformats.org/officeDocument/2006/relationships/image" Target="../media/image21.jpg"/><Relationship Id="rId6" Type="http://schemas.openxmlformats.org/officeDocument/2006/relationships/image" Target="../media/image27.jpg"/></Relationships>
</file>

<file path=ppt/slides/_rels/slide8.xml.rels><?xml version="1.0" encoding="UTF-8" standalone="yes"?><Relationships xmlns="http://schemas.openxmlformats.org/package/2006/relationships"><Relationship Id="rId20" Type="http://schemas.openxmlformats.org/officeDocument/2006/relationships/image" Target="../media/image5.png"/><Relationship Id="rId11" Type="http://schemas.openxmlformats.org/officeDocument/2006/relationships/image" Target="../media/image32.png"/><Relationship Id="rId10" Type="http://schemas.openxmlformats.org/officeDocument/2006/relationships/image" Target="../media/image30.png"/><Relationship Id="rId21" Type="http://schemas.openxmlformats.org/officeDocument/2006/relationships/image" Target="../media/image8.png"/><Relationship Id="rId13" Type="http://schemas.openxmlformats.org/officeDocument/2006/relationships/image" Target="../media/image35.png"/><Relationship Id="rId1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2.png"/><Relationship Id="rId4" Type="http://schemas.openxmlformats.org/officeDocument/2006/relationships/image" Target="../media/image16.png"/><Relationship Id="rId9" Type="http://schemas.openxmlformats.org/officeDocument/2006/relationships/image" Target="../media/image33.png"/><Relationship Id="rId15" Type="http://schemas.openxmlformats.org/officeDocument/2006/relationships/image" Target="../media/image46.png"/><Relationship Id="rId14" Type="http://schemas.openxmlformats.org/officeDocument/2006/relationships/image" Target="../media/image43.png"/><Relationship Id="rId17" Type="http://schemas.openxmlformats.org/officeDocument/2006/relationships/image" Target="../media/image42.png"/><Relationship Id="rId16" Type="http://schemas.openxmlformats.org/officeDocument/2006/relationships/image" Target="../media/image40.png"/><Relationship Id="rId5" Type="http://schemas.openxmlformats.org/officeDocument/2006/relationships/image" Target="../media/image39.png"/><Relationship Id="rId19" Type="http://schemas.openxmlformats.org/officeDocument/2006/relationships/image" Target="../media/image45.png"/><Relationship Id="rId6" Type="http://schemas.openxmlformats.org/officeDocument/2006/relationships/image" Target="../media/image29.png"/><Relationship Id="rId18" Type="http://schemas.openxmlformats.org/officeDocument/2006/relationships/image" Target="../media/image41.png"/><Relationship Id="rId7" Type="http://schemas.openxmlformats.org/officeDocument/2006/relationships/image" Target="../media/image31.png"/><Relationship Id="rId8" Type="http://schemas.openxmlformats.org/officeDocument/2006/relationships/image" Target="../media/image38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5.png"/><Relationship Id="rId10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2.png"/><Relationship Id="rId4" Type="http://schemas.openxmlformats.org/officeDocument/2006/relationships/image" Target="../media/image16.png"/><Relationship Id="rId9" Type="http://schemas.openxmlformats.org/officeDocument/2006/relationships/image" Target="../media/image48.png"/><Relationship Id="rId5" Type="http://schemas.openxmlformats.org/officeDocument/2006/relationships/image" Target="../media/image8.png"/><Relationship Id="rId6" Type="http://schemas.openxmlformats.org/officeDocument/2006/relationships/image" Target="../media/image47.png"/><Relationship Id="rId7" Type="http://schemas.openxmlformats.org/officeDocument/2006/relationships/image" Target="../media/image51.png"/><Relationship Id="rId8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" name="Google Shape;1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81975" y="10955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" name="Google Shape;1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2895600" cy="2895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" name="Google Shape;14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72600" y="4038600"/>
            <a:ext cx="243840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" name="Google Shape;15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2286000"/>
            <a:ext cx="2286000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" name="Google Shape;16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0"/>
            <a:ext cx="121920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" name="Google Shape;17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638800" y="2449227"/>
            <a:ext cx="9144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" name="Google Shape;18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0" y="6743700"/>
            <a:ext cx="121920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"/>
          <p:cNvSpPr/>
          <p:nvPr/>
        </p:nvSpPr>
        <p:spPr>
          <a:xfrm>
            <a:off x="1986925" y="1090625"/>
            <a:ext cx="8576100" cy="714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580000" dist="19050">
              <a:srgbClr val="000000">
                <a:alpha val="38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Montserrat"/>
              <a:buNone/>
            </a:pPr>
            <a:r>
              <a:rPr b="1" lang="en-US" sz="5000">
                <a:latin typeface="Montserrat"/>
                <a:ea typeface="Montserrat"/>
                <a:cs typeface="Montserrat"/>
                <a:sym typeface="Montserrat"/>
              </a:rPr>
              <a:t>Pulse</a:t>
            </a:r>
            <a:endParaRPr b="1" sz="5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Montserrat"/>
              <a:buNone/>
            </a:pPr>
            <a:r>
              <a:rPr b="1" lang="en-US" sz="1900">
                <a:latin typeface="Montserrat"/>
                <a:ea typeface="Montserrat"/>
                <a:cs typeface="Montserrat"/>
                <a:sym typeface="Montserrat"/>
              </a:rPr>
              <a:t>Social Media and Marketing Multi- Agents Platform</a:t>
            </a:r>
            <a:endParaRPr b="1"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Montserrat"/>
              <a:buNone/>
            </a:pPr>
            <a:r>
              <a:t/>
            </a:r>
            <a:endParaRPr b="1"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Montserrat"/>
              <a:buNone/>
            </a:pPr>
            <a:r>
              <a:t/>
            </a:r>
            <a:endParaRPr b="1"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2087880" y="2986088"/>
            <a:ext cx="420624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Montserrat"/>
              <a:buNone/>
            </a:pPr>
            <a:r>
              <a:rPr b="1" i="0" lang="en-US" sz="18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Team Members: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878330" y="3405188"/>
            <a:ext cx="443484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Montserrat"/>
              <a:buChar char="•"/>
            </a:pPr>
            <a:r>
              <a:rPr lang="en-US" sz="1500">
                <a:solidFill>
                  <a:srgbClr val="4B5563"/>
                </a:solidFill>
                <a:latin typeface="Montserrat"/>
                <a:ea typeface="Montserrat"/>
                <a:cs typeface="Montserrat"/>
                <a:sym typeface="Montserrat"/>
              </a:rPr>
              <a:t>Abdelrahman Elattar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1878330" y="3748087"/>
            <a:ext cx="443484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Montserrat"/>
              <a:buChar char="•"/>
            </a:pPr>
            <a:r>
              <a:rPr lang="en-US" sz="1500">
                <a:solidFill>
                  <a:srgbClr val="4B5563"/>
                </a:solidFill>
                <a:latin typeface="Montserrat"/>
                <a:ea typeface="Montserrat"/>
                <a:cs typeface="Montserrat"/>
                <a:sym typeface="Montserrat"/>
              </a:rPr>
              <a:t>Abdelrahman Omar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1878330" y="4090987"/>
            <a:ext cx="443484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Montserrat"/>
              <a:buChar char="•"/>
            </a:pPr>
            <a:r>
              <a:rPr lang="en-US" sz="1500">
                <a:solidFill>
                  <a:srgbClr val="4B5563"/>
                </a:solidFill>
                <a:latin typeface="Montserrat"/>
                <a:ea typeface="Montserrat"/>
                <a:cs typeface="Montserrat"/>
                <a:sym typeface="Montserrat"/>
              </a:rPr>
              <a:t>Hager Saad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1878330" y="4433888"/>
            <a:ext cx="443484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Montserrat"/>
              <a:buChar char="•"/>
            </a:pPr>
            <a:r>
              <a:rPr lang="en-US" sz="1500">
                <a:solidFill>
                  <a:srgbClr val="4B5563"/>
                </a:solidFill>
                <a:latin typeface="Montserrat"/>
                <a:ea typeface="Montserrat"/>
                <a:cs typeface="Montserrat"/>
                <a:sym typeface="Montserrat"/>
              </a:rPr>
              <a:t>Rana Mahmoud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6248400" y="2986088"/>
            <a:ext cx="3505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Montserrat"/>
              <a:buNone/>
            </a:pPr>
            <a:r>
              <a:rPr b="1" i="0" lang="en-US" sz="18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Supervisor: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5897880" y="3405188"/>
            <a:ext cx="420624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Montserrat"/>
              <a:buNone/>
            </a:pPr>
            <a:r>
              <a:rPr lang="en-US" sz="1500">
                <a:solidFill>
                  <a:srgbClr val="4B5563"/>
                </a:solidFill>
                <a:latin typeface="Montserrat"/>
                <a:ea typeface="Montserrat"/>
                <a:cs typeface="Montserrat"/>
                <a:sym typeface="Montserrat"/>
              </a:rPr>
              <a:t>Dr.Mohamed Maher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8886825" y="5257800"/>
            <a:ext cx="341757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50"/>
              <a:buFont typeface="Montserrat"/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Montserrat"/>
                <a:ea typeface="Montserrat"/>
                <a:cs typeface="Montserrat"/>
                <a:sym typeface="Montserrat"/>
              </a:rPr>
              <a:t>Submission Date: </a:t>
            </a:r>
            <a:r>
              <a:rPr lang="en-US" sz="1350">
                <a:solidFill>
                  <a:srgbClr val="4B5563"/>
                </a:solidFill>
                <a:latin typeface="Montserrat"/>
                <a:ea typeface="Montserrat"/>
                <a:cs typeface="Montserrat"/>
                <a:sym typeface="Montserrat"/>
              </a:rPr>
              <a:t>2025-11-21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" name="Google Shape;28;p1"/>
          <p:cNvGrpSpPr/>
          <p:nvPr/>
        </p:nvGrpSpPr>
        <p:grpSpPr>
          <a:xfrm>
            <a:off x="0" y="5979638"/>
            <a:ext cx="12192000" cy="764062"/>
            <a:chOff x="0" y="5979638"/>
            <a:chExt cx="12192000" cy="764062"/>
          </a:xfrm>
        </p:grpSpPr>
        <p:pic>
          <p:nvPicPr>
            <p:cNvPr descr="preencoded.png" id="29" name="Google Shape;29;p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0" y="5981700"/>
              <a:ext cx="12192000" cy="76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" name="Google Shape;30;p1"/>
            <p:cNvSpPr/>
            <p:nvPr/>
          </p:nvSpPr>
          <p:spPr>
            <a:xfrm>
              <a:off x="10418445" y="6276975"/>
              <a:ext cx="1773555" cy="171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4B5563"/>
                </a:buClr>
                <a:buSzPts val="1800"/>
                <a:buFont typeface="Montserrat"/>
                <a:buNone/>
              </a:pPr>
              <a:r>
                <a:rPr b="1" i="0" lang="en-US" sz="1800" u="none" cap="none" strike="noStrike">
                  <a:solidFill>
                    <a:srgbClr val="4B556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CSAI School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1" name="Google Shape;31;p1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116744" y="5979638"/>
              <a:ext cx="3740342" cy="76203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7" name="Google Shape;3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" name="Google Shape;3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2"/>
          <p:cNvSpPr/>
          <p:nvPr/>
        </p:nvSpPr>
        <p:spPr>
          <a:xfrm>
            <a:off x="381000" y="209550"/>
            <a:ext cx="6324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lang="en-US" sz="2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Problem Statement 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207819" y="1019166"/>
            <a:ext cx="10826100" cy="14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Problem Statement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Small businesses struggle with time-consuming, inconsistent social media management, leading to missed opportunities and reduced customer trust. Automated AI system ensures efficient scheduling, engagement, and analytics.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Impact</a:t>
            </a:r>
            <a:endParaRPr b="1" sz="11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Increases marketing efficiency by automating tasks</a:t>
            </a:r>
            <a:br>
              <a:rPr lang="en-US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Maintains consistent and authentic brand presence</a:t>
            </a:r>
            <a:br>
              <a:rPr lang="en-US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Provides faster, personalized customer interactions</a:t>
            </a:r>
            <a:br>
              <a:rPr lang="en-US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200">
                <a:solidFill>
                  <a:schemeClr val="dk1"/>
                </a:solidFill>
              </a:rPr>
              <a:t>Improves audience engagement and satisfaction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Motivation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Automating social media management to boost efficiency, maintain brand consistency, and deliver personalized audience engagement.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914400" marR="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" name="Google Shape;41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51658" y="0"/>
            <a:ext cx="3740342" cy="7620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" name="Google Shape;42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762000"/>
            <a:ext cx="12192000" cy="4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89475" y="1900592"/>
            <a:ext cx="4648200" cy="3171825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"/>
          <p:cNvSpPr txBox="1"/>
          <p:nvPr/>
        </p:nvSpPr>
        <p:spPr>
          <a:xfrm>
            <a:off x="7782025" y="5127075"/>
            <a:ext cx="37404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/>
              <a:t>Market Size Value In 2025	$256.5 billion</a:t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/>
              <a:t>Revenue Forecast In 2034	$406.64 billion</a:t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0" name="Google Shape;5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7286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1" name="Google Shape;5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1999" cy="762039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3"/>
          <p:cNvSpPr/>
          <p:nvPr/>
        </p:nvSpPr>
        <p:spPr>
          <a:xfrm>
            <a:off x="381000" y="190500"/>
            <a:ext cx="11430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lang="en-US" sz="2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Proposed Solution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609600" y="533400"/>
            <a:ext cx="48768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" name="Google Shape;54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51658" y="0"/>
            <a:ext cx="3740341" cy="762039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3"/>
          <p:cNvSpPr/>
          <p:nvPr/>
        </p:nvSpPr>
        <p:spPr>
          <a:xfrm>
            <a:off x="297519" y="1311866"/>
            <a:ext cx="10826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Proposed Solution Overview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Develop an Autonomous AI Social Media Multi-Agent Platform that automates content scheduling, audience engagement, and performance analysis, ensuring consistent brand presence and data-driven decision-making.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Key Features</a:t>
            </a:r>
            <a:endParaRPr b="1" sz="13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AI Marketing Strategist for strategy and KPIs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Social Media &amp; Performance Analyst for posting and insights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AI Customer Relationship Agent for personalized responses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Content &amp; Market Authority Engine for smart content creation and optimization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</a:endParaRPr>
          </a:p>
        </p:txBody>
      </p:sp>
      <p:pic>
        <p:nvPicPr>
          <p:cNvPr descr="preencoded.png" id="56" name="Google Shape;56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762000"/>
            <a:ext cx="12191999" cy="4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2" name="Google Shape;6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3" name="Google Shape;6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4"/>
          <p:cNvSpPr/>
          <p:nvPr/>
        </p:nvSpPr>
        <p:spPr>
          <a:xfrm>
            <a:off x="381000" y="209550"/>
            <a:ext cx="6324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lang="en-US" sz="2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Target Audience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" name="Google Shape;6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51658" y="0"/>
            <a:ext cx="3740342" cy="762039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4"/>
          <p:cNvSpPr/>
          <p:nvPr/>
        </p:nvSpPr>
        <p:spPr>
          <a:xfrm>
            <a:off x="297519" y="1311866"/>
            <a:ext cx="1082611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Primary User Persona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Small business owners and e-commerce entrepreneurs who manage social media to promote their brand, engage customers, and drive sales.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User Characteristics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Small business owners and e-commerce entrepreneurs having time-constrained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 Need efficient social media management. Aiming to increase brand visibility, engage customers effectively, and drive sales.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 Uses multiple social platforms with limited marketing resources, and require automated tools that provide actionable insights and maintain brand consistency.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The Need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Automate</a:t>
            </a:r>
            <a:r>
              <a:rPr lang="en-US" sz="1300">
                <a:solidFill>
                  <a:schemeClr val="dk1"/>
                </a:solidFill>
              </a:rPr>
              <a:t> solution to save time, ensure consistent social media presence, and make data-driven decisions.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</a:endParaRPr>
          </a:p>
        </p:txBody>
      </p:sp>
      <p:pic>
        <p:nvPicPr>
          <p:cNvPr descr="preencoded.png" id="67" name="Google Shape;67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762000"/>
            <a:ext cx="12192000" cy="4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3" name="Google Shape;7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85725" y="-69227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4" name="Google Shape;7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5" name="Google Shape;7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1569959"/>
            <a:ext cx="1143000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6" name="Google Shape;7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1000" y="1569959"/>
            <a:ext cx="2406253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7" name="Google Shape;77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787253" y="1569959"/>
            <a:ext cx="3007816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8" name="Google Shape;78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95070" y="1569959"/>
            <a:ext cx="3007816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9" name="Google Shape;79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02886" y="1569959"/>
            <a:ext cx="3008114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0" name="Google Shape;80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81000" y="2084309"/>
            <a:ext cx="114300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1" name="Google Shape;81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81000" y="2084309"/>
            <a:ext cx="2406253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2" name="Google Shape;82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787253" y="2084309"/>
            <a:ext cx="3007816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3" name="Google Shape;83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795070" y="2084309"/>
            <a:ext cx="3007816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4" name="Google Shape;84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802886" y="2084309"/>
            <a:ext cx="3008114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5" name="Google Shape;85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81000" y="2541509"/>
            <a:ext cx="114300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6" name="Google Shape;86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81000" y="2541509"/>
            <a:ext cx="2406253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7" name="Google Shape;87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787253" y="2541509"/>
            <a:ext cx="3007816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8" name="Google Shape;88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795070" y="2541509"/>
            <a:ext cx="3007816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9" name="Google Shape;89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802886" y="2541509"/>
            <a:ext cx="3008114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0" name="Google Shape;90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81000" y="2998709"/>
            <a:ext cx="114300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1" name="Google Shape;91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81000" y="2998709"/>
            <a:ext cx="2406253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2" name="Google Shape;92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787253" y="2998709"/>
            <a:ext cx="3007816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3" name="Google Shape;93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795070" y="2998709"/>
            <a:ext cx="3007816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4" name="Google Shape;94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802886" y="2998709"/>
            <a:ext cx="3008114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5" name="Google Shape;95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81000" y="3455909"/>
            <a:ext cx="114300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6" name="Google Shape;96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81000" y="3455909"/>
            <a:ext cx="2406253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7" name="Google Shape;97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787253" y="3455909"/>
            <a:ext cx="3007816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8" name="Google Shape;98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795070" y="3455909"/>
            <a:ext cx="3007816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9" name="Google Shape;99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802886" y="3455909"/>
            <a:ext cx="3008114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0" name="Google Shape;100;p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81000" y="4256009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5"/>
          <p:cNvSpPr/>
          <p:nvPr/>
        </p:nvSpPr>
        <p:spPr>
          <a:xfrm>
            <a:off x="381000" y="209550"/>
            <a:ext cx="75895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lang="en-US" sz="2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Competitive Analysis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381000" y="952500"/>
            <a:ext cx="878185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381000" y="1569959"/>
            <a:ext cx="2406253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Feature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2787253" y="1569959"/>
            <a:ext cx="3007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</a:rPr>
              <a:t>Pulse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5795070" y="1569959"/>
            <a:ext cx="3007816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</a:rPr>
              <a:t>Pomelli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8802886" y="1569959"/>
            <a:ext cx="3008114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</a:rPr>
              <a:t>Waxwing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523875" y="2084309"/>
            <a:ext cx="28875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Core Technology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2858691" y="2084309"/>
            <a:ext cx="3007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Autonomous multi-agent system + performance analytics and strategy orchestration.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2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2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200"/>
          </a:p>
        </p:txBody>
      </p:sp>
      <p:sp>
        <p:nvSpPr>
          <p:cNvPr id="109" name="Google Shape;109;p5"/>
          <p:cNvSpPr/>
          <p:nvPr/>
        </p:nvSpPr>
        <p:spPr>
          <a:xfrm>
            <a:off x="5937945" y="2084309"/>
            <a:ext cx="30078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/>
              <a:t>AI content generation based on business identity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200"/>
          </a:p>
        </p:txBody>
      </p:sp>
      <p:sp>
        <p:nvSpPr>
          <p:cNvPr id="110" name="Google Shape;110;p5"/>
          <p:cNvSpPr/>
          <p:nvPr/>
        </p:nvSpPr>
        <p:spPr>
          <a:xfrm>
            <a:off x="8945761" y="2084309"/>
            <a:ext cx="300811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/>
              <a:t>AI-assisted marketing with human expert input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200"/>
          </a:p>
        </p:txBody>
      </p:sp>
      <p:sp>
        <p:nvSpPr>
          <p:cNvPr id="111" name="Google Shape;111;p5"/>
          <p:cNvSpPr/>
          <p:nvPr/>
        </p:nvSpPr>
        <p:spPr>
          <a:xfrm>
            <a:off x="523875" y="2541509"/>
            <a:ext cx="288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Experience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2858700" y="2541500"/>
            <a:ext cx="307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/>
              <a:t>End-to-end automation across strategy, content creation, engagement, and analytics.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5937945" y="2541509"/>
            <a:ext cx="3007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/>
              <a:t>Simple content creation workflow</a:t>
            </a:r>
            <a:endParaRPr sz="12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200"/>
          </a:p>
        </p:txBody>
      </p:sp>
      <p:sp>
        <p:nvSpPr>
          <p:cNvPr id="114" name="Google Shape;114;p5"/>
          <p:cNvSpPr/>
          <p:nvPr/>
        </p:nvSpPr>
        <p:spPr>
          <a:xfrm>
            <a:off x="8945761" y="2541509"/>
            <a:ext cx="300811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/>
              <a:t>Provides full marketing plan, content calendar, and strategy guidance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200"/>
          </a:p>
        </p:txBody>
      </p:sp>
      <p:sp>
        <p:nvSpPr>
          <p:cNvPr id="115" name="Google Shape;115;p5"/>
          <p:cNvSpPr/>
          <p:nvPr/>
        </p:nvSpPr>
        <p:spPr>
          <a:xfrm>
            <a:off x="523875" y="2998709"/>
            <a:ext cx="28875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Integration Capability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2858725" y="3039700"/>
            <a:ext cx="307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/>
              <a:t>Deep integrations with social platforms, CRM systems, and analytics APIs.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5795070" y="2998709"/>
            <a:ext cx="3007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/>
              <a:t>Focused on content creation; limited integrations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200"/>
          </a:p>
        </p:txBody>
      </p:sp>
      <p:sp>
        <p:nvSpPr>
          <p:cNvPr id="118" name="Google Shape;118;p5"/>
          <p:cNvSpPr/>
          <p:nvPr/>
        </p:nvSpPr>
        <p:spPr>
          <a:xfrm>
            <a:off x="8945761" y="2998709"/>
            <a:ext cx="300811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/>
              <a:t>Partial automation; human intervention often required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200"/>
          </a:p>
        </p:txBody>
      </p:sp>
      <p:sp>
        <p:nvSpPr>
          <p:cNvPr id="119" name="Google Shape;119;p5"/>
          <p:cNvSpPr/>
          <p:nvPr/>
        </p:nvSpPr>
        <p:spPr>
          <a:xfrm>
            <a:off x="523875" y="3455909"/>
            <a:ext cx="28875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Cost Structure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2858750" y="3455900"/>
            <a:ext cx="307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/>
              <a:t>No cost in development period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5795070" y="3455909"/>
            <a:ext cx="3007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/>
              <a:t>still an experiment (no payment )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200"/>
          </a:p>
        </p:txBody>
      </p:sp>
      <p:sp>
        <p:nvSpPr>
          <p:cNvPr id="122" name="Google Shape;122;p5"/>
          <p:cNvSpPr/>
          <p:nvPr/>
        </p:nvSpPr>
        <p:spPr>
          <a:xfrm>
            <a:off x="8945761" y="3455909"/>
            <a:ext cx="300811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/>
              <a:t>Higher cost for small </a:t>
            </a:r>
            <a:r>
              <a:rPr lang="en-US" sz="1100"/>
              <a:t>businesses</a:t>
            </a:r>
            <a:r>
              <a:rPr lang="en-US" sz="1100"/>
              <a:t> (49 $ per month with limited access)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2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676275" y="4244809"/>
            <a:ext cx="11430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Key Differentiators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451658" y="0"/>
            <a:ext cx="3740342" cy="762039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5"/>
          <p:cNvSpPr/>
          <p:nvPr/>
        </p:nvSpPr>
        <p:spPr>
          <a:xfrm>
            <a:off x="342900" y="4626159"/>
            <a:ext cx="115062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Pulse redefines the market by doing what no competitor can: it doesn’t just assist, it autonomously runs the entire social media ecosystem. From real-time trend-driven content creation to personalized customer engagement, from intelligent scheduling to cross-platform analytics and performance prediction, Pulse replaces fragmented tools with a single coordinated multi-agent engine that plans, creates, responds, learns, and optimizes end-to-end delivering a level of automation far beyond Pomelli’s basic content workflows and Waxwing’s limited analytics and engagement capabilities.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descr="preencoded.png" id="126" name="Google Shape;126;p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0" y="762000"/>
            <a:ext cx="12192000" cy="476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7" name="Google Shape;127;p5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{576D6DC1-81B6-44AC-90BA-8D701A4FF684}</a:tableStyleId>
              </a:tblPr>
              <a:tblGrid>
                <a:gridCol w="2895600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28" name="Google Shape;128;p5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{576D6DC1-81B6-44AC-90BA-8D701A4FF684}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3" name="Google Shape;133;g3a78f71d699_0_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2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g3a78f71d699_0_1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51658" y="0"/>
            <a:ext cx="3740341" cy="762039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g3a78f71d699_0_116"/>
          <p:cNvSpPr/>
          <p:nvPr/>
        </p:nvSpPr>
        <p:spPr>
          <a:xfrm>
            <a:off x="381000" y="209550"/>
            <a:ext cx="7589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lang="en-US" sz="2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Competitive Analysis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6" name="Google Shape;136;g3a78f71d699_0_1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99775" y="1564450"/>
            <a:ext cx="6217176" cy="18573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g3a78f71d699_0_116"/>
          <p:cNvSpPr txBox="1"/>
          <p:nvPr/>
        </p:nvSpPr>
        <p:spPr>
          <a:xfrm>
            <a:off x="5596599" y="866650"/>
            <a:ext cx="1701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/>
              <a:t>Pomelli</a:t>
            </a:r>
            <a:endParaRPr b="1" sz="3000"/>
          </a:p>
        </p:txBody>
      </p:sp>
      <p:sp>
        <p:nvSpPr>
          <p:cNvPr id="138" name="Google Shape;138;g3a78f71d699_0_116"/>
          <p:cNvSpPr txBox="1"/>
          <p:nvPr/>
        </p:nvSpPr>
        <p:spPr>
          <a:xfrm>
            <a:off x="8692125" y="1020550"/>
            <a:ext cx="1614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</p:txBody>
      </p:sp>
      <p:pic>
        <p:nvPicPr>
          <p:cNvPr id="139" name="Google Shape;139;g3a78f71d699_0_1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2475" y="3473125"/>
            <a:ext cx="6326800" cy="3222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g3a78f71d699_0_1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24550" y="3473125"/>
            <a:ext cx="5427926" cy="322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5" name="Google Shape;145;g3a78f71d699_1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2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g3a78f71d699_1_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51658" y="0"/>
            <a:ext cx="3740341" cy="76203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g3a78f71d699_1_4"/>
          <p:cNvSpPr/>
          <p:nvPr/>
        </p:nvSpPr>
        <p:spPr>
          <a:xfrm>
            <a:off x="381000" y="209550"/>
            <a:ext cx="7589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lang="en-US" sz="2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Competitive Analysis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3a78f71d699_1_4"/>
          <p:cNvSpPr txBox="1"/>
          <p:nvPr/>
        </p:nvSpPr>
        <p:spPr>
          <a:xfrm>
            <a:off x="5153563" y="1020550"/>
            <a:ext cx="3239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/>
              <a:t>WaxWing</a:t>
            </a:r>
            <a:endParaRPr b="1" sz="3000"/>
          </a:p>
        </p:txBody>
      </p:sp>
      <p:sp>
        <p:nvSpPr>
          <p:cNvPr id="149" name="Google Shape;149;g3a78f71d699_1_4"/>
          <p:cNvSpPr txBox="1"/>
          <p:nvPr/>
        </p:nvSpPr>
        <p:spPr>
          <a:xfrm>
            <a:off x="8692125" y="1020550"/>
            <a:ext cx="1614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</p:txBody>
      </p:sp>
      <p:pic>
        <p:nvPicPr>
          <p:cNvPr id="150" name="Google Shape;150;g3a78f71d699_1_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2275" y="1839400"/>
            <a:ext cx="6436451" cy="492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g3a78f71d699_1_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51225" y="2322550"/>
            <a:ext cx="5489501" cy="44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7" name="Google Shape;15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8" name="Google Shape;15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2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9" name="Google Shape;15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2114550"/>
            <a:ext cx="114300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0" name="Google Shape;160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203835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1" name="Google Shape;161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19050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2" name="Google Shape;162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76300" y="201930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3" name="Google Shape;16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10000" y="203835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4" name="Google Shape;164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619500" y="24003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5" name="Google Shape;165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733800" y="251460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6" name="Google Shape;166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67500" y="203835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7" name="Google Shape;167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477000" y="19050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8" name="Google Shape;168;p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591300" y="201930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9" name="Google Shape;169;p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525000" y="203835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0" name="Google Shape;170;p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334500" y="24003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1" name="Google Shape;171;p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9448800" y="251460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2" name="Google Shape;172;p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381000" y="4114800"/>
            <a:ext cx="3708350" cy="81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3" name="Google Shape;173;p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523875" y="429577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4" name="Google Shape;174;p6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4241750" y="4114800"/>
            <a:ext cx="3708350" cy="81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5" name="Google Shape;175;p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384625" y="429577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6" name="Google Shape;176;p6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8102501" y="4114800"/>
            <a:ext cx="3708499" cy="81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7" name="Google Shape;177;p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245376" y="4295775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6"/>
          <p:cNvSpPr/>
          <p:nvPr/>
        </p:nvSpPr>
        <p:spPr>
          <a:xfrm>
            <a:off x="381000" y="209550"/>
            <a:ext cx="6324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lang="en-US" sz="2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Roadmap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381000" y="1047750"/>
            <a:ext cx="11430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Project Timeline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381000" y="1314450"/>
            <a:ext cx="1371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This section outlines the high-level plan for the remainder of the project, detailing key phases and milestones to guide development.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0" y="23622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Current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0" y="2590800"/>
            <a:ext cx="1905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Week 9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2857500" y="28575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Phase 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2857500" y="3086100"/>
            <a:ext cx="1905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Development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5715000" y="23622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Phase 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5715000" y="2590800"/>
            <a:ext cx="1905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Testing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8572500" y="28575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Phase 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8572500" y="3086100"/>
            <a:ext cx="1905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Launch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381000" y="3733800"/>
            <a:ext cx="11430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Key Milestones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752475" y="4257675"/>
            <a:ext cx="121354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Week 10-12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523875" y="4562475"/>
            <a:ext cx="4107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Requirements gathering and initial design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4613225" y="4257675"/>
            <a:ext cx="121354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Week 13-16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4384625" y="4562475"/>
            <a:ext cx="4107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Development of core features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8473976" y="4257675"/>
            <a:ext cx="121354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Week 17-18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8245376" y="4562475"/>
            <a:ext cx="410729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Testing and refinement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p6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8451658" y="0"/>
            <a:ext cx="3740342" cy="7620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7" name="Google Shape;197;p6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-75" y="776288"/>
            <a:ext cx="12191999" cy="4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3" name="Google Shape;20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4" name="Google Shape;20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5" name="Google Shape;20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762000"/>
            <a:ext cx="12192000" cy="47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6" name="Google Shape;206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86000" y="1876425"/>
            <a:ext cx="7620000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7" name="Google Shape;207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71750" y="25812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8" name="Google Shape;208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686050" y="269557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9" name="Google Shape;209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571750" y="31146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0" name="Google Shape;210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686050" y="3228975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7"/>
          <p:cNvSpPr/>
          <p:nvPr/>
        </p:nvSpPr>
        <p:spPr>
          <a:xfrm>
            <a:off x="381000" y="209550"/>
            <a:ext cx="6324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lang="en-US" sz="2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Q&amp;A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3292971" y="1190625"/>
            <a:ext cx="560605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Thank You &amp; Questions?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2571750" y="2162175"/>
            <a:ext cx="7048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Team Contact Information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3095625" y="2695575"/>
            <a:ext cx="3692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374151"/>
                </a:solidFill>
              </a:rPr>
              <a:t>s-abdulrahman.elattar@zewailcity.edu.eg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3095625" y="3190875"/>
            <a:ext cx="160752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374151"/>
                </a:solidFill>
              </a:rPr>
              <a:t>+201021780496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3167077" y="4238625"/>
            <a:ext cx="585769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We welcome your feedback and insights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3167077" y="4581525"/>
            <a:ext cx="585769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CSAI School | Zewail City of Science, Technology and Innovation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8" name="Google Shape;218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451658" y="0"/>
            <a:ext cx="3740342" cy="762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2025-11-03T16:40:12Z</dcterms:created>
  <dc:creator>PptxGenJS</dc:creator>
</cp:coreProperties>
</file>